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Wine type</c:v>
                </c:pt>
              </c:strCache>
            </c:strRef>
          </c:tx>
          <c:spPr>
            <a:solidFill>
              <a:schemeClr val="accent1"/>
            </a:solidFill>
            <a:ln w="9525" cap="flat">
              <a:solidFill>
                <a:srgbClr val="F9F9F9"/>
              </a:solidFill>
              <a:prstDash val="solid"/>
              <a:round/>
            </a:ln>
            <a:effectLst/>
          </c:spPr>
          <c:dPt>
            <c:idx val="0"/>
            <c:bubble3D val="0"/>
            <c:spPr>
              <a:solidFill>
                <a:srgbClr val="D4A72C"/>
              </a:solidFill>
              <a:effectLst/>
            </c:spPr>
            <c:extLst>
              <c:ext xmlns:c16="http://schemas.microsoft.com/office/drawing/2014/chart" uri="{C3380CC4-5D6E-409C-BE32-E72D297353CC}">
                <c16:uniqueId val="{00000001-0BE0-4A0D-8A66-2B18AE9ACCE1}"/>
              </c:ext>
            </c:extLst>
          </c:dPt>
          <c:dPt>
            <c:idx val="1"/>
            <c:bubble3D val="0"/>
            <c:spPr>
              <a:solidFill>
                <a:srgbClr val="8B1E3F"/>
              </a:solidFill>
              <a:effectLst/>
            </c:spPr>
            <c:extLst>
              <c:ext xmlns:c16="http://schemas.microsoft.com/office/drawing/2014/chart" uri="{C3380CC4-5D6E-409C-BE32-E72D297353CC}">
                <c16:uniqueId val="{00000003-0BE0-4A0D-8A66-2B18AE9ACCE1}"/>
              </c:ext>
            </c:extLst>
          </c:dPt>
          <c:dLbls>
            <c:dLbl>
              <c:idx val="0"/>
              <c:numFmt formatCode="0%" sourceLinked="0"/>
              <c:spPr/>
              <c:txPr>
                <a:bodyPr/>
                <a:lstStyle/>
                <a:p>
                  <a:pPr>
                    <a:defRPr sz="12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BE0-4A0D-8A66-2B18AE9ACCE1}"/>
                </c:ext>
              </c:extLst>
            </c:dLbl>
            <c:dLbl>
              <c:idx val="1"/>
              <c:numFmt formatCode="0%" sourceLinked="0"/>
              <c:spPr/>
              <c:txPr>
                <a:bodyPr/>
                <a:lstStyle/>
                <a:p>
                  <a:pPr>
                    <a:defRPr sz="12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BE0-4A0D-8A66-2B18AE9ACCE1}"/>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White</c:v>
                </c:pt>
                <c:pt idx="1">
                  <c:v>Red</c:v>
                </c:pt>
              </c:strCache>
            </c:strRef>
          </c:cat>
          <c:val>
            <c:numRef>
              <c:f>Sheet1!$B$2:$B$3</c:f>
              <c:numCache>
                <c:formatCode>General</c:formatCode>
                <c:ptCount val="2"/>
                <c:pt idx="0">
                  <c:v>74.5</c:v>
                </c:pt>
                <c:pt idx="1">
                  <c:v>25.5</c:v>
                </c:pt>
              </c:numCache>
            </c:numRef>
          </c:val>
          <c:extLst>
            <c:ext xmlns:c16="http://schemas.microsoft.com/office/drawing/2014/chart" uri="{C3380CC4-5D6E-409C-BE32-E72D297353CC}">
              <c16:uniqueId val="{00000004-0BE0-4A0D-8A66-2B18AE9ACCE1}"/>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Red</c:v>
                </c:pt>
              </c:strCache>
            </c:strRef>
          </c:tx>
          <c:spPr>
            <a:solidFill>
              <a:srgbClr val="8B1E3F"/>
            </a:solidFill>
            <a:effectLst/>
          </c:spPr>
          <c:invertIfNegative val="0"/>
          <c:dLbls>
            <c:numFmt formatCode="0.0" sourceLinked="0"/>
            <c:spPr>
              <a:noFill/>
              <a:ln>
                <a:noFill/>
              </a:ln>
              <a:effectLst/>
            </c:spPr>
            <c:txPr>
              <a:bodyPr/>
              <a:lstStyle/>
              <a:p>
                <a:pPr>
                  <a:defRPr sz="8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Fixed acidity</c:v>
                </c:pt>
                <c:pt idx="1">
                  <c:v>Residual sugar</c:v>
                </c:pt>
                <c:pt idx="2">
                  <c:v>Alcohol</c:v>
                </c:pt>
              </c:strCache>
            </c:strRef>
          </c:cat>
          <c:val>
            <c:numRef>
              <c:f>Sheet1!$B$2:$B$4</c:f>
              <c:numCache>
                <c:formatCode>General</c:formatCode>
                <c:ptCount val="3"/>
                <c:pt idx="0">
                  <c:v>8.31</c:v>
                </c:pt>
                <c:pt idx="1">
                  <c:v>2.52</c:v>
                </c:pt>
                <c:pt idx="2">
                  <c:v>10.43</c:v>
                </c:pt>
              </c:numCache>
            </c:numRef>
          </c:val>
          <c:extLst>
            <c:ext xmlns:c16="http://schemas.microsoft.com/office/drawing/2014/chart" uri="{C3380CC4-5D6E-409C-BE32-E72D297353CC}">
              <c16:uniqueId val="{00000000-2C99-4986-9767-C2AD19D16436}"/>
            </c:ext>
          </c:extLst>
        </c:ser>
        <c:ser>
          <c:idx val="1"/>
          <c:order val="1"/>
          <c:tx>
            <c:strRef>
              <c:f>Sheet1!$C$1</c:f>
              <c:strCache>
                <c:ptCount val="1"/>
                <c:pt idx="0">
                  <c:v>White</c:v>
                </c:pt>
              </c:strCache>
            </c:strRef>
          </c:tx>
          <c:spPr>
            <a:solidFill>
              <a:srgbClr val="D4A72C"/>
            </a:solidFill>
            <a:effectLst/>
          </c:spPr>
          <c:invertIfNegative val="0"/>
          <c:dLbls>
            <c:numFmt formatCode="0.0" sourceLinked="0"/>
            <c:spPr>
              <a:noFill/>
              <a:ln>
                <a:noFill/>
              </a:ln>
              <a:effectLst/>
            </c:spPr>
            <c:txPr>
              <a:bodyPr/>
              <a:lstStyle/>
              <a:p>
                <a:pPr>
                  <a:defRPr sz="8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Fixed acidity</c:v>
                </c:pt>
                <c:pt idx="1">
                  <c:v>Residual sugar</c:v>
                </c:pt>
                <c:pt idx="2">
                  <c:v>Alcohol</c:v>
                </c:pt>
              </c:strCache>
            </c:strRef>
          </c:cat>
          <c:val>
            <c:numRef>
              <c:f>Sheet1!$C$2:$C$4</c:f>
              <c:numCache>
                <c:formatCode>General</c:formatCode>
                <c:ptCount val="3"/>
                <c:pt idx="0">
                  <c:v>6.84</c:v>
                </c:pt>
                <c:pt idx="1">
                  <c:v>5.91</c:v>
                </c:pt>
                <c:pt idx="2">
                  <c:v>10.59</c:v>
                </c:pt>
              </c:numCache>
            </c:numRef>
          </c:val>
          <c:extLst>
            <c:ext xmlns:c16="http://schemas.microsoft.com/office/drawing/2014/chart" uri="{C3380CC4-5D6E-409C-BE32-E72D297353CC}">
              <c16:uniqueId val="{00000001-2C99-4986-9767-C2AD19D1643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68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8EC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68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Samples</c:v>
                </c:pt>
              </c:strCache>
            </c:strRef>
          </c:tx>
          <c:spPr>
            <a:solidFill>
              <a:srgbClr val="8B1E3F"/>
            </a:solidFill>
            <a:effectLst/>
          </c:spPr>
          <c:invertIfNegative val="0"/>
          <c:dPt>
            <c:idx val="0"/>
            <c:invertIfNegative val="0"/>
            <c:bubble3D val="0"/>
            <c:extLst>
              <c:ext xmlns:c16="http://schemas.microsoft.com/office/drawing/2014/chart" uri="{C3380CC4-5D6E-409C-BE32-E72D297353CC}">
                <c16:uniqueId val="{00000001-519C-4424-BAAA-105343DB0AA5}"/>
              </c:ext>
            </c:extLst>
          </c:dPt>
          <c:dPt>
            <c:idx val="1"/>
            <c:invertIfNegative val="0"/>
            <c:bubble3D val="0"/>
            <c:spPr>
              <a:solidFill>
                <a:srgbClr val="D4A72C"/>
              </a:solidFill>
              <a:effectLst/>
            </c:spPr>
            <c:extLst>
              <c:ext xmlns:c16="http://schemas.microsoft.com/office/drawing/2014/chart" uri="{C3380CC4-5D6E-409C-BE32-E72D297353CC}">
                <c16:uniqueId val="{00000003-519C-4424-BAAA-105343DB0AA5}"/>
              </c:ext>
            </c:extLst>
          </c:dPt>
          <c:dLbls>
            <c:numFmt formatCode="#,##0" sourceLinked="0"/>
            <c:spPr>
              <a:noFill/>
              <a:ln>
                <a:noFill/>
              </a:ln>
              <a:effectLst/>
            </c:spPr>
            <c:txPr>
              <a:bodyPr/>
              <a:lstStyle/>
              <a:p>
                <a:pPr>
                  <a:defRPr sz="10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Red</c:v>
                </c:pt>
                <c:pt idx="1">
                  <c:v>White</c:v>
                </c:pt>
              </c:strCache>
            </c:strRef>
          </c:cat>
          <c:val>
            <c:numRef>
              <c:f>Sheet1!$B$2:$B$3</c:f>
              <c:numCache>
                <c:formatCode>General</c:formatCode>
                <c:ptCount val="2"/>
                <c:pt idx="0">
                  <c:v>1359</c:v>
                </c:pt>
                <c:pt idx="1">
                  <c:v>3961</c:v>
                </c:pt>
              </c:numCache>
            </c:numRef>
          </c:val>
          <c:extLst>
            <c:ext xmlns:c16="http://schemas.microsoft.com/office/drawing/2014/chart" uri="{C3380CC4-5D6E-409C-BE32-E72D297353CC}">
              <c16:uniqueId val="{00000004-519C-4424-BAAA-105343DB0AA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68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8EC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68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444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a:effectLst/>
      </p:bgPr>
    </p:bg>
    <p:spTree>
      <p:nvGrpSpPr>
        <p:cNvPr id="1" name=""/>
        <p:cNvGrpSpPr/>
        <p:nvPr/>
      </p:nvGrpSpPr>
      <p:grpSpPr>
        <a:xfrm>
          <a:off x="0" y="0"/>
          <a:ext cx="0" cy="0"/>
          <a:chOff x="0" y="0"/>
          <a:chExt cx="0" cy="0"/>
        </a:xfrm>
      </p:grpSpPr>
      <p:sp>
        <p:nvSpPr>
          <p:cNvPr id="2" name="Shape 0"/>
          <p:cNvSpPr/>
          <p:nvPr/>
        </p:nvSpPr>
        <p:spPr>
          <a:xfrm>
            <a:off x="8503920" y="-1463040"/>
            <a:ext cx="4754880" cy="4754880"/>
          </a:xfrm>
          <a:prstGeom prst="ellipse">
            <a:avLst/>
          </a:prstGeom>
          <a:solidFill>
            <a:srgbClr val="0B1B33">
              <a:alpha val="0"/>
            </a:srgbClr>
          </a:solidFill>
          <a:ln w="19050">
            <a:solidFill>
              <a:srgbClr val="2E5A9C"/>
            </a:solidFill>
            <a:prstDash val="solid"/>
          </a:ln>
        </p:spPr>
      </p:sp>
      <p:sp>
        <p:nvSpPr>
          <p:cNvPr id="3" name="Shape 1"/>
          <p:cNvSpPr/>
          <p:nvPr/>
        </p:nvSpPr>
        <p:spPr>
          <a:xfrm>
            <a:off x="9326880" y="-640080"/>
            <a:ext cx="3108960" cy="3108960"/>
          </a:xfrm>
          <a:prstGeom prst="ellipse">
            <a:avLst/>
          </a:prstGeom>
          <a:solidFill>
            <a:srgbClr val="0B1B33">
              <a:alpha val="0"/>
            </a:srgbClr>
          </a:solidFill>
          <a:ln w="19050">
            <a:solidFill>
              <a:srgbClr val="2E5A9C"/>
            </a:solidFill>
            <a:prstDash val="solid"/>
          </a:ln>
        </p:spPr>
      </p:sp>
      <p:sp>
        <p:nvSpPr>
          <p:cNvPr id="4" name="Shape 2"/>
          <p:cNvSpPr/>
          <p:nvPr/>
        </p:nvSpPr>
        <p:spPr>
          <a:xfrm>
            <a:off x="10332720" y="365760"/>
            <a:ext cx="1097280" cy="1097280"/>
          </a:xfrm>
          <a:prstGeom prst="ellipse">
            <a:avLst/>
          </a:prstGeom>
          <a:solidFill>
            <a:srgbClr val="2E5A9C">
              <a:alpha val="25000"/>
            </a:srgbClr>
          </a:solidFill>
          <a:ln w="12700">
            <a:solidFill>
              <a:srgbClr val="2E5A9C"/>
            </a:solidFill>
            <a:prstDash val="solid"/>
          </a:ln>
        </p:spPr>
      </p:sp>
      <p:sp>
        <p:nvSpPr>
          <p:cNvPr id="5" name="Text 3"/>
          <p:cNvSpPr txBox="1"/>
          <p:nvPr/>
        </p:nvSpPr>
        <p:spPr>
          <a:xfrm>
            <a:off x="822960" y="713232"/>
            <a:ext cx="7315200" cy="274320"/>
          </a:xfrm>
          <a:prstGeom prst="rect">
            <a:avLst/>
          </a:prstGeom>
          <a:noFill/>
          <a:ln/>
        </p:spPr>
        <p:txBody>
          <a:bodyPr wrap="square" lIns="0" tIns="0" rIns="0" bIns="0" rtlCol="0" anchor="ctr"/>
          <a:lstStyle/>
          <a:p>
            <a:pPr marL="0" indent="0">
              <a:buNone/>
            </a:pPr>
            <a:r>
              <a:rPr lang="en-US" sz="1100" b="1" kern="0" spc="300" dirty="0">
                <a:solidFill>
                  <a:srgbClr val="E63946"/>
                </a:solidFill>
                <a:latin typeface="Calibri" pitchFamily="34" charset="0"/>
                <a:ea typeface="Calibri" pitchFamily="34" charset="-122"/>
                <a:cs typeface="Calibri" pitchFamily="34" charset="-120"/>
              </a:rPr>
              <a:t>MACHINE LEARNING PROJECT</a:t>
            </a:r>
            <a:endParaRPr lang="en-US" sz="1100" dirty="0"/>
          </a:p>
        </p:txBody>
      </p:sp>
      <p:sp>
        <p:nvSpPr>
          <p:cNvPr id="6" name="Text 4"/>
          <p:cNvSpPr txBox="1"/>
          <p:nvPr/>
        </p:nvSpPr>
        <p:spPr>
          <a:xfrm>
            <a:off x="822960" y="1188720"/>
            <a:ext cx="8229600" cy="15544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Wine Type Classification</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System</a:t>
            </a:r>
            <a:endParaRPr lang="en-US" sz="4400" dirty="0"/>
          </a:p>
        </p:txBody>
      </p:sp>
      <p:sp>
        <p:nvSpPr>
          <p:cNvPr id="7" name="Text 5"/>
          <p:cNvSpPr txBox="1"/>
          <p:nvPr/>
        </p:nvSpPr>
        <p:spPr>
          <a:xfrm>
            <a:off x="822960" y="2878494"/>
            <a:ext cx="6949440" cy="822960"/>
          </a:xfrm>
          <a:prstGeom prst="rect">
            <a:avLst/>
          </a:prstGeom>
          <a:noFill/>
          <a:ln/>
        </p:spPr>
        <p:txBody>
          <a:bodyPr wrap="square" lIns="0" tIns="0" rIns="0" bIns="0" rtlCol="0" anchor="t"/>
          <a:lstStyle/>
          <a:p>
            <a:pPr marL="0" indent="0">
              <a:buNone/>
            </a:pPr>
            <a:r>
              <a:rPr lang="en-US" sz="1500" dirty="0">
                <a:solidFill>
                  <a:srgbClr val="AFC6E9"/>
                </a:solidFill>
                <a:latin typeface="Calibri" pitchFamily="34" charset="0"/>
                <a:ea typeface="Calibri" pitchFamily="34" charset="-122"/>
                <a:cs typeface="Calibri" pitchFamily="34" charset="-120"/>
              </a:rPr>
              <a:t>A regularized logistic regression approach to identify wine as red or white from its chemical properties, with a confidence score and a feature-based explanation for every prediction.</a:t>
            </a:r>
            <a:endParaRPr lang="en-US" sz="1500" dirty="0"/>
          </a:p>
        </p:txBody>
      </p:sp>
      <p:sp>
        <p:nvSpPr>
          <p:cNvPr id="8" name="Shape 6"/>
          <p:cNvSpPr/>
          <p:nvPr/>
        </p:nvSpPr>
        <p:spPr>
          <a:xfrm>
            <a:off x="822960" y="5486400"/>
            <a:ext cx="1783080" cy="384048"/>
          </a:xfrm>
          <a:prstGeom prst="roundRect">
            <a:avLst>
              <a:gd name="adj" fmla="val 19048"/>
            </a:avLst>
          </a:prstGeom>
          <a:solidFill>
            <a:srgbClr val="13294B"/>
          </a:solidFill>
          <a:ln w="12700">
            <a:solidFill>
              <a:srgbClr val="2E5A9C"/>
            </a:solidFill>
            <a:prstDash val="solid"/>
          </a:ln>
        </p:spPr>
      </p:sp>
      <p:sp>
        <p:nvSpPr>
          <p:cNvPr id="9" name="Text 7"/>
          <p:cNvSpPr txBox="1"/>
          <p:nvPr/>
        </p:nvSpPr>
        <p:spPr>
          <a:xfrm>
            <a:off x="822960" y="5486400"/>
            <a:ext cx="1783080" cy="384048"/>
          </a:xfrm>
          <a:prstGeom prst="rect">
            <a:avLst/>
          </a:prstGeom>
          <a:noFill/>
          <a:ln/>
        </p:spPr>
        <p:txBody>
          <a:bodyPr wrap="square" lIns="0" tIns="0" rIns="0" bIns="0" rtlCol="0" anchor="ctr"/>
          <a:lstStyle/>
          <a:p>
            <a:pPr marL="0" indent="0" algn="ctr">
              <a:buNone/>
            </a:pPr>
            <a:r>
              <a:rPr lang="en-US" sz="1200" dirty="0">
                <a:solidFill>
                  <a:srgbClr val="AFC6E9"/>
                </a:solidFill>
                <a:latin typeface="Calibri" pitchFamily="34" charset="0"/>
                <a:ea typeface="Calibri" pitchFamily="34" charset="-122"/>
                <a:cs typeface="Calibri" pitchFamily="34" charset="-120"/>
              </a:rPr>
              <a:t>Problem Definition</a:t>
            </a:r>
            <a:endParaRPr lang="en-US" sz="1200" dirty="0"/>
          </a:p>
        </p:txBody>
      </p:sp>
      <p:sp>
        <p:nvSpPr>
          <p:cNvPr id="10" name="Shape 8"/>
          <p:cNvSpPr/>
          <p:nvPr/>
        </p:nvSpPr>
        <p:spPr>
          <a:xfrm>
            <a:off x="2788920" y="5486400"/>
            <a:ext cx="1783080" cy="384048"/>
          </a:xfrm>
          <a:prstGeom prst="roundRect">
            <a:avLst>
              <a:gd name="adj" fmla="val 19048"/>
            </a:avLst>
          </a:prstGeom>
          <a:solidFill>
            <a:srgbClr val="13294B"/>
          </a:solidFill>
          <a:ln w="12700">
            <a:solidFill>
              <a:srgbClr val="2E5A9C"/>
            </a:solidFill>
            <a:prstDash val="solid"/>
          </a:ln>
        </p:spPr>
      </p:sp>
      <p:sp>
        <p:nvSpPr>
          <p:cNvPr id="11" name="Text 9"/>
          <p:cNvSpPr txBox="1"/>
          <p:nvPr/>
        </p:nvSpPr>
        <p:spPr>
          <a:xfrm>
            <a:off x="2788920" y="5486400"/>
            <a:ext cx="1783080" cy="384048"/>
          </a:xfrm>
          <a:prstGeom prst="rect">
            <a:avLst/>
          </a:prstGeom>
          <a:noFill/>
          <a:ln/>
        </p:spPr>
        <p:txBody>
          <a:bodyPr wrap="square" lIns="0" tIns="0" rIns="0" bIns="0" rtlCol="0" anchor="ctr"/>
          <a:lstStyle/>
          <a:p>
            <a:pPr marL="0" indent="0" algn="ctr">
              <a:buNone/>
            </a:pPr>
            <a:r>
              <a:rPr lang="en-US" sz="1200" dirty="0">
                <a:solidFill>
                  <a:srgbClr val="AFC6E9"/>
                </a:solidFill>
                <a:latin typeface="Calibri" pitchFamily="34" charset="0"/>
                <a:ea typeface="Calibri" pitchFamily="34" charset="-122"/>
                <a:cs typeface="Calibri" pitchFamily="34" charset="-120"/>
              </a:rPr>
              <a:t>Dataset &amp; EDA</a:t>
            </a:r>
            <a:endParaRPr lang="en-US" sz="1200" dirty="0"/>
          </a:p>
        </p:txBody>
      </p:sp>
      <p:sp>
        <p:nvSpPr>
          <p:cNvPr id="12" name="Shape 10"/>
          <p:cNvSpPr/>
          <p:nvPr/>
        </p:nvSpPr>
        <p:spPr>
          <a:xfrm>
            <a:off x="4754880" y="5486400"/>
            <a:ext cx="1783080" cy="384048"/>
          </a:xfrm>
          <a:prstGeom prst="roundRect">
            <a:avLst>
              <a:gd name="adj" fmla="val 19048"/>
            </a:avLst>
          </a:prstGeom>
          <a:solidFill>
            <a:srgbClr val="13294B"/>
          </a:solidFill>
          <a:ln w="12700">
            <a:solidFill>
              <a:srgbClr val="2E5A9C"/>
            </a:solidFill>
            <a:prstDash val="solid"/>
          </a:ln>
        </p:spPr>
      </p:sp>
      <p:sp>
        <p:nvSpPr>
          <p:cNvPr id="13" name="Text 11"/>
          <p:cNvSpPr txBox="1"/>
          <p:nvPr/>
        </p:nvSpPr>
        <p:spPr>
          <a:xfrm>
            <a:off x="4754880" y="5486400"/>
            <a:ext cx="1783080" cy="384048"/>
          </a:xfrm>
          <a:prstGeom prst="rect">
            <a:avLst/>
          </a:prstGeom>
          <a:noFill/>
          <a:ln/>
        </p:spPr>
        <p:txBody>
          <a:bodyPr wrap="square" lIns="0" tIns="0" rIns="0" bIns="0" rtlCol="0" anchor="ctr"/>
          <a:lstStyle/>
          <a:p>
            <a:pPr marL="0" indent="0" algn="ctr">
              <a:buNone/>
            </a:pPr>
            <a:r>
              <a:rPr lang="en-US" sz="1200" dirty="0">
                <a:solidFill>
                  <a:srgbClr val="AFC6E9"/>
                </a:solidFill>
                <a:latin typeface="Calibri" pitchFamily="34" charset="0"/>
                <a:ea typeface="Calibri" pitchFamily="34" charset="-122"/>
                <a:cs typeface="Calibri" pitchFamily="34" charset="-120"/>
              </a:rPr>
              <a:t>Preprocessing</a:t>
            </a:r>
            <a:endParaRPr lang="en-US" sz="1200" dirty="0"/>
          </a:p>
        </p:txBody>
      </p:sp>
      <p:sp>
        <p:nvSpPr>
          <p:cNvPr id="14" name="Shape 12"/>
          <p:cNvSpPr/>
          <p:nvPr/>
        </p:nvSpPr>
        <p:spPr>
          <a:xfrm>
            <a:off x="6720840" y="5486400"/>
            <a:ext cx="1783080" cy="384048"/>
          </a:xfrm>
          <a:prstGeom prst="roundRect">
            <a:avLst>
              <a:gd name="adj" fmla="val 19048"/>
            </a:avLst>
          </a:prstGeom>
          <a:solidFill>
            <a:srgbClr val="13294B"/>
          </a:solidFill>
          <a:ln w="12700">
            <a:solidFill>
              <a:srgbClr val="2E5A9C"/>
            </a:solidFill>
            <a:prstDash val="solid"/>
          </a:ln>
        </p:spPr>
      </p:sp>
      <p:sp>
        <p:nvSpPr>
          <p:cNvPr id="15" name="Text 13"/>
          <p:cNvSpPr txBox="1"/>
          <p:nvPr/>
        </p:nvSpPr>
        <p:spPr>
          <a:xfrm>
            <a:off x="6720840" y="5486400"/>
            <a:ext cx="1783080" cy="384048"/>
          </a:xfrm>
          <a:prstGeom prst="rect">
            <a:avLst/>
          </a:prstGeom>
          <a:noFill/>
          <a:ln/>
        </p:spPr>
        <p:txBody>
          <a:bodyPr wrap="square" lIns="0" tIns="0" rIns="0" bIns="0" rtlCol="0" anchor="ctr"/>
          <a:lstStyle/>
          <a:p>
            <a:pPr marL="0" indent="0" algn="ctr">
              <a:buNone/>
            </a:pPr>
            <a:r>
              <a:rPr lang="en-US" sz="1200" dirty="0">
                <a:solidFill>
                  <a:srgbClr val="AFC6E9"/>
                </a:solidFill>
                <a:latin typeface="Calibri" pitchFamily="34" charset="0"/>
                <a:ea typeface="Calibri" pitchFamily="34" charset="-122"/>
                <a:cs typeface="Calibri" pitchFamily="34" charset="-120"/>
              </a:rPr>
              <a:t>Modeling</a:t>
            </a:r>
            <a:endParaRPr lang="en-US" sz="1200" dirty="0"/>
          </a:p>
        </p:txBody>
      </p:sp>
      <p:sp>
        <p:nvSpPr>
          <p:cNvPr id="17" name="Text 7">
            <a:extLst>
              <a:ext uri="{FF2B5EF4-FFF2-40B4-BE49-F238E27FC236}">
                <a16:creationId xmlns:a16="http://schemas.microsoft.com/office/drawing/2014/main" id="{5177E4AC-863F-B403-1D8E-62E653218B70}"/>
              </a:ext>
            </a:extLst>
          </p:cNvPr>
          <p:cNvSpPr txBox="1"/>
          <p:nvPr/>
        </p:nvSpPr>
        <p:spPr>
          <a:xfrm>
            <a:off x="822960" y="3639312"/>
            <a:ext cx="3064795" cy="1014984"/>
          </a:xfrm>
          <a:prstGeom prst="rect">
            <a:avLst/>
          </a:prstGeom>
          <a:noFill/>
          <a:ln/>
        </p:spPr>
        <p:txBody>
          <a:bodyPr wrap="square" lIns="0" tIns="0" rIns="0" bIns="0" rtlCol="0" anchor="ctr"/>
          <a:lstStyle/>
          <a:p>
            <a:pPr marL="0" indent="0">
              <a:buNone/>
            </a:pPr>
            <a:r>
              <a:rPr lang="en-US" sz="1600" dirty="0">
                <a:solidFill>
                  <a:srgbClr val="AFC6E9"/>
                </a:solidFill>
                <a:latin typeface="Calibri" pitchFamily="34" charset="0"/>
                <a:ea typeface="Calibri" pitchFamily="34" charset="-122"/>
                <a:cs typeface="Calibri" pitchFamily="34" charset="-120"/>
              </a:rPr>
              <a:t>D. Venya </a:t>
            </a:r>
            <a:r>
              <a:rPr lang="en-US" sz="1600" dirty="0" err="1">
                <a:solidFill>
                  <a:srgbClr val="AFC6E9"/>
                </a:solidFill>
                <a:latin typeface="Calibri" pitchFamily="34" charset="0"/>
                <a:ea typeface="Calibri" pitchFamily="34" charset="-122"/>
                <a:cs typeface="Calibri" pitchFamily="34" charset="-120"/>
              </a:rPr>
              <a:t>sri</a:t>
            </a:r>
            <a:r>
              <a:rPr lang="en-US" sz="1600" dirty="0">
                <a:solidFill>
                  <a:srgbClr val="AFC6E9"/>
                </a:solidFill>
                <a:latin typeface="Calibri" pitchFamily="34" charset="0"/>
                <a:ea typeface="Calibri" pitchFamily="34" charset="-122"/>
                <a:cs typeface="Calibri" pitchFamily="34" charset="-120"/>
              </a:rPr>
              <a:t> – 2520030531</a:t>
            </a:r>
          </a:p>
          <a:p>
            <a:pPr marL="0" indent="0">
              <a:buNone/>
            </a:pPr>
            <a:r>
              <a:rPr lang="en-US" sz="1600" dirty="0">
                <a:solidFill>
                  <a:srgbClr val="AFC6E9"/>
                </a:solidFill>
                <a:latin typeface="Calibri" pitchFamily="34" charset="0"/>
                <a:ea typeface="Calibri" pitchFamily="34" charset="-122"/>
                <a:cs typeface="Calibri" pitchFamily="34" charset="-120"/>
              </a:rPr>
              <a:t>K. Vansika Reddy – 2520030527</a:t>
            </a:r>
          </a:p>
          <a:p>
            <a:pPr marL="0" indent="0">
              <a:buNone/>
            </a:pPr>
            <a:endParaRPr lang="en-US" sz="1200" dirty="0"/>
          </a:p>
        </p:txBody>
      </p:sp>
      <p:sp>
        <p:nvSpPr>
          <p:cNvPr id="19" name="Text 7">
            <a:extLst>
              <a:ext uri="{FF2B5EF4-FFF2-40B4-BE49-F238E27FC236}">
                <a16:creationId xmlns:a16="http://schemas.microsoft.com/office/drawing/2014/main" id="{D53B944D-C5DD-86C0-5047-A613B74474D8}"/>
              </a:ext>
            </a:extLst>
          </p:cNvPr>
          <p:cNvSpPr txBox="1"/>
          <p:nvPr/>
        </p:nvSpPr>
        <p:spPr>
          <a:xfrm>
            <a:off x="822960" y="4599619"/>
            <a:ext cx="1928327" cy="475488"/>
          </a:xfrm>
          <a:prstGeom prst="rect">
            <a:avLst/>
          </a:prstGeom>
          <a:noFill/>
          <a:ln/>
        </p:spPr>
        <p:txBody>
          <a:bodyPr wrap="square" lIns="0" tIns="0" rIns="0" bIns="0" rtlCol="0" anchor="ctr"/>
          <a:lstStyle/>
          <a:p>
            <a:pPr marL="0" indent="0">
              <a:buNone/>
            </a:pPr>
            <a:r>
              <a:rPr lang="en-US" sz="1600" dirty="0">
                <a:solidFill>
                  <a:srgbClr val="AFC6E9"/>
                </a:solidFill>
                <a:latin typeface="Calibri" pitchFamily="34" charset="0"/>
                <a:ea typeface="Calibri" pitchFamily="34" charset="-122"/>
                <a:cs typeface="Calibri" pitchFamily="34" charset="-120"/>
              </a:rPr>
              <a:t>Section – 9</a:t>
            </a:r>
          </a:p>
          <a:p>
            <a:pPr marL="0" indent="0">
              <a:buNone/>
            </a:pPr>
            <a:r>
              <a:rPr lang="en-US" sz="1600" dirty="0">
                <a:solidFill>
                  <a:srgbClr val="AFC6E9"/>
                </a:solidFill>
                <a:latin typeface="Calibri" pitchFamily="34" charset="0"/>
                <a:ea typeface="Calibri" pitchFamily="34" charset="-122"/>
                <a:cs typeface="Calibri" pitchFamily="34" charset="-120"/>
              </a:rPr>
              <a:t>Team no - 28</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050" b="1" kern="0" spc="200" dirty="0">
                <a:solidFill>
                  <a:srgbClr val="E63946"/>
                </a:solidFill>
                <a:latin typeface="Calibri" pitchFamily="34" charset="0"/>
                <a:ea typeface="Calibri" pitchFamily="34" charset="-122"/>
                <a:cs typeface="Calibri" pitchFamily="34" charset="-120"/>
              </a:rPr>
              <a:t>PROBLEM DEFINITION</a:t>
            </a:r>
            <a:endParaRPr lang="en-US" sz="1050" dirty="0"/>
          </a:p>
        </p:txBody>
      </p:sp>
      <p:sp>
        <p:nvSpPr>
          <p:cNvPr id="3" name="Text 1"/>
          <p:cNvSpPr txBox="1"/>
          <p:nvPr/>
        </p:nvSpPr>
        <p:spPr>
          <a:xfrm>
            <a:off x="640080" y="713232"/>
            <a:ext cx="1051560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What We're Solving, and Why It Matters</a:t>
            </a:r>
            <a:endParaRPr lang="en-US" sz="2800" dirty="0"/>
          </a:p>
        </p:txBody>
      </p:sp>
      <p:sp>
        <p:nvSpPr>
          <p:cNvPr id="4" name="Shape 2"/>
          <p:cNvSpPr/>
          <p:nvPr/>
        </p:nvSpPr>
        <p:spPr>
          <a:xfrm>
            <a:off x="640080" y="1737360"/>
            <a:ext cx="5317236" cy="2148840"/>
          </a:xfrm>
          <a:prstGeom prst="roundRect">
            <a:avLst>
              <a:gd name="adj" fmla="val 2553"/>
            </a:avLst>
          </a:prstGeom>
          <a:solidFill>
            <a:srgbClr val="FFFFFF"/>
          </a:solidFill>
          <a:ln w="12700">
            <a:solidFill>
              <a:srgbClr val="DDE3ED"/>
            </a:solidFill>
            <a:prstDash val="solid"/>
          </a:ln>
        </p:spPr>
      </p:sp>
      <p:sp>
        <p:nvSpPr>
          <p:cNvPr id="5" name="Shape 3"/>
          <p:cNvSpPr/>
          <p:nvPr/>
        </p:nvSpPr>
        <p:spPr>
          <a:xfrm>
            <a:off x="868680" y="1965960"/>
            <a:ext cx="310896" cy="310896"/>
          </a:xfrm>
          <a:prstGeom prst="rect">
            <a:avLst/>
          </a:prstGeom>
          <a:solidFill>
            <a:srgbClr val="E63946"/>
          </a:solidFill>
          <a:ln w="12700">
            <a:solidFill>
              <a:srgbClr val="E63946"/>
            </a:solidFill>
            <a:prstDash val="solid"/>
          </a:ln>
        </p:spPr>
      </p:sp>
      <p:sp>
        <p:nvSpPr>
          <p:cNvPr id="6" name="Text 4"/>
          <p:cNvSpPr txBox="1"/>
          <p:nvPr/>
        </p:nvSpPr>
        <p:spPr>
          <a:xfrm>
            <a:off x="868680" y="196596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325880" y="1938528"/>
            <a:ext cx="4402836" cy="365760"/>
          </a:xfrm>
          <a:prstGeom prst="rect">
            <a:avLst/>
          </a:prstGeom>
          <a:noFill/>
          <a:ln/>
        </p:spPr>
        <p:txBody>
          <a:bodyPr wrap="square" lIns="0" tIns="0" rIns="0" bIns="0" rtlCol="0" anchor="ctr"/>
          <a:lstStyle/>
          <a:p>
            <a:pPr marL="0" indent="0">
              <a:buNone/>
            </a:pPr>
            <a:r>
              <a:rPr lang="en-US" sz="1450" b="1" dirty="0">
                <a:solidFill>
                  <a:srgbClr val="1B2A41"/>
                </a:solidFill>
                <a:latin typeface="Calibri" pitchFamily="34" charset="0"/>
                <a:ea typeface="Calibri" pitchFamily="34" charset="-122"/>
                <a:cs typeface="Calibri" pitchFamily="34" charset="-120"/>
              </a:rPr>
              <a:t>What problem are we solving?</a:t>
            </a:r>
            <a:endParaRPr lang="en-US" sz="1450" dirty="0"/>
          </a:p>
        </p:txBody>
      </p:sp>
      <p:sp>
        <p:nvSpPr>
          <p:cNvPr id="8" name="Text 6"/>
          <p:cNvSpPr txBox="1"/>
          <p:nvPr/>
        </p:nvSpPr>
        <p:spPr>
          <a:xfrm>
            <a:off x="1325880" y="2359152"/>
            <a:ext cx="4402836" cy="1417320"/>
          </a:xfrm>
          <a:prstGeom prst="rect">
            <a:avLst/>
          </a:prstGeom>
          <a:noFill/>
          <a:ln/>
        </p:spPr>
        <p:txBody>
          <a:bodyPr wrap="square" lIns="0" tIns="0" rIns="0" bIns="0" rtlCol="0" anchor="t"/>
          <a:lstStyle/>
          <a:p>
            <a:pPr marL="0" indent="0">
              <a:buNone/>
            </a:pPr>
            <a:r>
              <a:rPr lang="en-US" sz="1300" dirty="0">
                <a:solidFill>
                  <a:srgbClr val="6B7688"/>
                </a:solidFill>
                <a:latin typeface="Calibri" pitchFamily="34" charset="0"/>
                <a:ea typeface="Calibri" pitchFamily="34" charset="-122"/>
                <a:cs typeface="Calibri" pitchFamily="34" charset="-120"/>
              </a:rPr>
              <a:t>Classifying a wine sample as red or white from its lab-measured chemical properties, without tasting or visual inspection.</a:t>
            </a:r>
            <a:endParaRPr lang="en-US" sz="1300" dirty="0"/>
          </a:p>
        </p:txBody>
      </p:sp>
      <p:sp>
        <p:nvSpPr>
          <p:cNvPr id="9" name="Shape 7"/>
          <p:cNvSpPr/>
          <p:nvPr/>
        </p:nvSpPr>
        <p:spPr>
          <a:xfrm>
            <a:off x="6231636" y="1737360"/>
            <a:ext cx="5317236" cy="2148840"/>
          </a:xfrm>
          <a:prstGeom prst="roundRect">
            <a:avLst>
              <a:gd name="adj" fmla="val 2553"/>
            </a:avLst>
          </a:prstGeom>
          <a:solidFill>
            <a:srgbClr val="FFFFFF"/>
          </a:solidFill>
          <a:ln w="12700">
            <a:solidFill>
              <a:srgbClr val="DDE3ED"/>
            </a:solidFill>
            <a:prstDash val="solid"/>
          </a:ln>
        </p:spPr>
      </p:sp>
      <p:sp>
        <p:nvSpPr>
          <p:cNvPr id="10" name="Shape 8"/>
          <p:cNvSpPr/>
          <p:nvPr/>
        </p:nvSpPr>
        <p:spPr>
          <a:xfrm>
            <a:off x="6460236" y="1965960"/>
            <a:ext cx="310896" cy="310896"/>
          </a:xfrm>
          <a:prstGeom prst="rect">
            <a:avLst/>
          </a:prstGeom>
          <a:solidFill>
            <a:srgbClr val="E63946"/>
          </a:solidFill>
          <a:ln w="12700">
            <a:solidFill>
              <a:srgbClr val="E63946"/>
            </a:solidFill>
            <a:prstDash val="solid"/>
          </a:ln>
        </p:spPr>
      </p:sp>
      <p:sp>
        <p:nvSpPr>
          <p:cNvPr id="11" name="Text 9"/>
          <p:cNvSpPr txBox="1"/>
          <p:nvPr/>
        </p:nvSpPr>
        <p:spPr>
          <a:xfrm>
            <a:off x="6460236" y="196596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6917436" y="1938528"/>
            <a:ext cx="4402836" cy="365760"/>
          </a:xfrm>
          <a:prstGeom prst="rect">
            <a:avLst/>
          </a:prstGeom>
          <a:noFill/>
          <a:ln/>
        </p:spPr>
        <p:txBody>
          <a:bodyPr wrap="square" lIns="0" tIns="0" rIns="0" bIns="0" rtlCol="0" anchor="ctr"/>
          <a:lstStyle/>
          <a:p>
            <a:pPr marL="0" indent="0">
              <a:buNone/>
            </a:pPr>
            <a:r>
              <a:rPr lang="en-US" sz="1450" b="1" dirty="0">
                <a:solidFill>
                  <a:srgbClr val="1B2A41"/>
                </a:solidFill>
                <a:latin typeface="Calibri" pitchFamily="34" charset="0"/>
                <a:ea typeface="Calibri" pitchFamily="34" charset="-122"/>
                <a:cs typeface="Calibri" pitchFamily="34" charset="-120"/>
              </a:rPr>
              <a:t>Why is this problem important?</a:t>
            </a:r>
            <a:endParaRPr lang="en-US" sz="1450" dirty="0"/>
          </a:p>
        </p:txBody>
      </p:sp>
      <p:sp>
        <p:nvSpPr>
          <p:cNvPr id="13" name="Text 11"/>
          <p:cNvSpPr txBox="1"/>
          <p:nvPr/>
        </p:nvSpPr>
        <p:spPr>
          <a:xfrm>
            <a:off x="6917436" y="2359152"/>
            <a:ext cx="4402836" cy="1417320"/>
          </a:xfrm>
          <a:prstGeom prst="rect">
            <a:avLst/>
          </a:prstGeom>
          <a:noFill/>
          <a:ln/>
        </p:spPr>
        <p:txBody>
          <a:bodyPr wrap="square" lIns="0" tIns="0" rIns="0" bIns="0" rtlCol="0" anchor="t"/>
          <a:lstStyle/>
          <a:p>
            <a:pPr marL="0" indent="0">
              <a:buNone/>
            </a:pPr>
            <a:r>
              <a:rPr lang="en-US" sz="1300" dirty="0">
                <a:solidFill>
                  <a:srgbClr val="6B7688"/>
                </a:solidFill>
                <a:latin typeface="Calibri" pitchFamily="34" charset="0"/>
                <a:ea typeface="Calibri" pitchFamily="34" charset="-122"/>
                <a:cs typeface="Calibri" pitchFamily="34" charset="-120"/>
              </a:rPr>
              <a:t>Wine type drives pricing, labelling and quality control. Automating it makes checks fast and objective, and can flag mislabelled or blended samples.</a:t>
            </a:r>
            <a:endParaRPr lang="en-US" sz="1300" dirty="0"/>
          </a:p>
        </p:txBody>
      </p:sp>
      <p:sp>
        <p:nvSpPr>
          <p:cNvPr id="14" name="Shape 12"/>
          <p:cNvSpPr/>
          <p:nvPr/>
        </p:nvSpPr>
        <p:spPr>
          <a:xfrm>
            <a:off x="640080" y="4160520"/>
            <a:ext cx="5317236" cy="2148840"/>
          </a:xfrm>
          <a:prstGeom prst="roundRect">
            <a:avLst>
              <a:gd name="adj" fmla="val 2553"/>
            </a:avLst>
          </a:prstGeom>
          <a:solidFill>
            <a:srgbClr val="FFFFFF"/>
          </a:solidFill>
          <a:ln w="12700">
            <a:solidFill>
              <a:srgbClr val="DDE3ED"/>
            </a:solidFill>
            <a:prstDash val="solid"/>
          </a:ln>
        </p:spPr>
      </p:sp>
      <p:sp>
        <p:nvSpPr>
          <p:cNvPr id="15" name="Shape 13"/>
          <p:cNvSpPr/>
          <p:nvPr/>
        </p:nvSpPr>
        <p:spPr>
          <a:xfrm>
            <a:off x="868680" y="4389120"/>
            <a:ext cx="310896" cy="310896"/>
          </a:xfrm>
          <a:prstGeom prst="rect">
            <a:avLst/>
          </a:prstGeom>
          <a:solidFill>
            <a:srgbClr val="E63946"/>
          </a:solidFill>
          <a:ln w="12700">
            <a:solidFill>
              <a:srgbClr val="E63946"/>
            </a:solidFill>
            <a:prstDash val="solid"/>
          </a:ln>
        </p:spPr>
      </p:sp>
      <p:sp>
        <p:nvSpPr>
          <p:cNvPr id="16" name="Text 14"/>
          <p:cNvSpPr txBox="1"/>
          <p:nvPr/>
        </p:nvSpPr>
        <p:spPr>
          <a:xfrm>
            <a:off x="868680" y="438912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325880" y="4361688"/>
            <a:ext cx="4402836" cy="365760"/>
          </a:xfrm>
          <a:prstGeom prst="rect">
            <a:avLst/>
          </a:prstGeom>
          <a:noFill/>
          <a:ln/>
        </p:spPr>
        <p:txBody>
          <a:bodyPr wrap="square" lIns="0" tIns="0" rIns="0" bIns="0" rtlCol="0" anchor="ctr"/>
          <a:lstStyle/>
          <a:p>
            <a:pPr marL="0" indent="0">
              <a:buNone/>
            </a:pPr>
            <a:r>
              <a:rPr lang="en-US" sz="1450" b="1" dirty="0">
                <a:solidFill>
                  <a:srgbClr val="1B2A41"/>
                </a:solidFill>
                <a:latin typeface="Calibri" pitchFamily="34" charset="0"/>
                <a:ea typeface="Calibri" pitchFamily="34" charset="-122"/>
                <a:cs typeface="Calibri" pitchFamily="34" charset="-120"/>
              </a:rPr>
              <a:t>Who will use the solution?</a:t>
            </a:r>
            <a:endParaRPr lang="en-US" sz="1450" dirty="0"/>
          </a:p>
        </p:txBody>
      </p:sp>
      <p:sp>
        <p:nvSpPr>
          <p:cNvPr id="18" name="Text 16"/>
          <p:cNvSpPr txBox="1"/>
          <p:nvPr/>
        </p:nvSpPr>
        <p:spPr>
          <a:xfrm>
            <a:off x="1325880" y="4782312"/>
            <a:ext cx="4402836" cy="1417320"/>
          </a:xfrm>
          <a:prstGeom prst="rect">
            <a:avLst/>
          </a:prstGeom>
          <a:noFill/>
          <a:ln/>
        </p:spPr>
        <p:txBody>
          <a:bodyPr wrap="square" lIns="0" tIns="0" rIns="0" bIns="0" rtlCol="0" anchor="t"/>
          <a:lstStyle/>
          <a:p>
            <a:pPr marL="0" indent="0">
              <a:buNone/>
            </a:pPr>
            <a:r>
              <a:rPr lang="en-US" sz="1300" dirty="0">
                <a:solidFill>
                  <a:srgbClr val="6B7688"/>
                </a:solidFill>
                <a:latin typeface="Calibri" pitchFamily="34" charset="0"/>
                <a:ea typeface="Calibri" pitchFamily="34" charset="-122"/>
                <a:cs typeface="Calibri" pitchFamily="34" charset="-120"/>
              </a:rPr>
              <a:t>Wineries and quality-control labs, wine retailers and analysts who need a quick, explainable check on a sample's type.</a:t>
            </a:r>
            <a:endParaRPr lang="en-US" sz="1300" dirty="0"/>
          </a:p>
        </p:txBody>
      </p:sp>
      <p:sp>
        <p:nvSpPr>
          <p:cNvPr id="19" name="Shape 17"/>
          <p:cNvSpPr/>
          <p:nvPr/>
        </p:nvSpPr>
        <p:spPr>
          <a:xfrm>
            <a:off x="6231636" y="4160520"/>
            <a:ext cx="5317236" cy="2148840"/>
          </a:xfrm>
          <a:prstGeom prst="roundRect">
            <a:avLst>
              <a:gd name="adj" fmla="val 2553"/>
            </a:avLst>
          </a:prstGeom>
          <a:solidFill>
            <a:srgbClr val="FFFFFF"/>
          </a:solidFill>
          <a:ln w="12700">
            <a:solidFill>
              <a:srgbClr val="DDE3ED"/>
            </a:solidFill>
            <a:prstDash val="solid"/>
          </a:ln>
        </p:spPr>
      </p:sp>
      <p:sp>
        <p:nvSpPr>
          <p:cNvPr id="20" name="Shape 18"/>
          <p:cNvSpPr/>
          <p:nvPr/>
        </p:nvSpPr>
        <p:spPr>
          <a:xfrm>
            <a:off x="6460236" y="4389120"/>
            <a:ext cx="310896" cy="310896"/>
          </a:xfrm>
          <a:prstGeom prst="rect">
            <a:avLst/>
          </a:prstGeom>
          <a:solidFill>
            <a:srgbClr val="E63946"/>
          </a:solidFill>
          <a:ln w="12700">
            <a:solidFill>
              <a:srgbClr val="E63946"/>
            </a:solidFill>
            <a:prstDash val="solid"/>
          </a:ln>
        </p:spPr>
      </p:sp>
      <p:sp>
        <p:nvSpPr>
          <p:cNvPr id="21" name="Text 19"/>
          <p:cNvSpPr txBox="1"/>
          <p:nvPr/>
        </p:nvSpPr>
        <p:spPr>
          <a:xfrm>
            <a:off x="6460236" y="438912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917436" y="4361688"/>
            <a:ext cx="4402836" cy="365760"/>
          </a:xfrm>
          <a:prstGeom prst="rect">
            <a:avLst/>
          </a:prstGeom>
          <a:noFill/>
          <a:ln/>
        </p:spPr>
        <p:txBody>
          <a:bodyPr wrap="square" lIns="0" tIns="0" rIns="0" bIns="0" rtlCol="0" anchor="ctr"/>
          <a:lstStyle/>
          <a:p>
            <a:pPr marL="0" indent="0">
              <a:buNone/>
            </a:pPr>
            <a:r>
              <a:rPr lang="en-US" sz="1450" b="1" dirty="0">
                <a:solidFill>
                  <a:srgbClr val="1B2A41"/>
                </a:solidFill>
                <a:latin typeface="Calibri" pitchFamily="34" charset="0"/>
                <a:ea typeface="Calibri" pitchFamily="34" charset="-122"/>
                <a:cs typeface="Calibri" pitchFamily="34" charset="-120"/>
              </a:rPr>
              <a:t>What is the expected output?</a:t>
            </a:r>
            <a:endParaRPr lang="en-US" sz="1450" dirty="0"/>
          </a:p>
        </p:txBody>
      </p:sp>
      <p:sp>
        <p:nvSpPr>
          <p:cNvPr id="23" name="Text 21"/>
          <p:cNvSpPr txBox="1"/>
          <p:nvPr/>
        </p:nvSpPr>
        <p:spPr>
          <a:xfrm>
            <a:off x="6917436" y="4782312"/>
            <a:ext cx="4402836" cy="1417320"/>
          </a:xfrm>
          <a:prstGeom prst="rect">
            <a:avLst/>
          </a:prstGeom>
          <a:noFill/>
          <a:ln/>
        </p:spPr>
        <p:txBody>
          <a:bodyPr wrap="square" lIns="0" tIns="0" rIns="0" bIns="0" rtlCol="0" anchor="t"/>
          <a:lstStyle/>
          <a:p>
            <a:pPr marL="0" indent="0">
              <a:buNone/>
            </a:pPr>
            <a:r>
              <a:rPr lang="en-US" sz="1300" dirty="0">
                <a:solidFill>
                  <a:srgbClr val="6B7688"/>
                </a:solidFill>
                <a:latin typeface="Calibri" pitchFamily="34" charset="0"/>
                <a:ea typeface="Calibri" pitchFamily="34" charset="-122"/>
                <a:cs typeface="Calibri" pitchFamily="34" charset="-120"/>
              </a:rPr>
              <a:t>For each sample, a prediction (red or white), a confidence score, and the top chemical features that explain the decision.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050" b="1" kern="0" spc="200" dirty="0">
                <a:solidFill>
                  <a:srgbClr val="E63946"/>
                </a:solidFill>
                <a:latin typeface="Calibri" pitchFamily="34" charset="0"/>
                <a:ea typeface="Calibri" pitchFamily="34" charset="-122"/>
                <a:cs typeface="Calibri" pitchFamily="34" charset="-120"/>
              </a:rPr>
              <a:t>ABSTRACT</a:t>
            </a:r>
            <a:endParaRPr lang="en-US" sz="1050" dirty="0"/>
          </a:p>
        </p:txBody>
      </p:sp>
      <p:sp>
        <p:nvSpPr>
          <p:cNvPr id="3" name="Text 1"/>
          <p:cNvSpPr txBox="1"/>
          <p:nvPr/>
        </p:nvSpPr>
        <p:spPr>
          <a:xfrm>
            <a:off x="640080" y="713232"/>
            <a:ext cx="1051560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Project Overview</a:t>
            </a:r>
            <a:endParaRPr lang="en-US" sz="2800" dirty="0"/>
          </a:p>
        </p:txBody>
      </p:sp>
      <p:sp>
        <p:nvSpPr>
          <p:cNvPr id="4" name="Shape 2"/>
          <p:cNvSpPr/>
          <p:nvPr/>
        </p:nvSpPr>
        <p:spPr>
          <a:xfrm>
            <a:off x="640080" y="1554480"/>
            <a:ext cx="6858000" cy="4663440"/>
          </a:xfrm>
          <a:prstGeom prst="roundRect">
            <a:avLst>
              <a:gd name="adj" fmla="val 1176"/>
            </a:avLst>
          </a:prstGeom>
          <a:solidFill>
            <a:srgbClr val="FFFFFF"/>
          </a:solidFill>
          <a:ln w="12700">
            <a:solidFill>
              <a:srgbClr val="DDE3ED"/>
            </a:solidFill>
            <a:prstDash val="solid"/>
          </a:ln>
        </p:spPr>
      </p:sp>
      <p:sp>
        <p:nvSpPr>
          <p:cNvPr id="5" name="Text 3"/>
          <p:cNvSpPr txBox="1"/>
          <p:nvPr/>
        </p:nvSpPr>
        <p:spPr>
          <a:xfrm>
            <a:off x="868680" y="1783080"/>
            <a:ext cx="6400800" cy="4206240"/>
          </a:xfrm>
          <a:prstGeom prst="rect">
            <a:avLst/>
          </a:prstGeom>
          <a:noFill/>
          <a:ln/>
        </p:spPr>
        <p:txBody>
          <a:bodyPr wrap="square" lIns="0" tIns="0" rIns="0" bIns="0" rtlCol="0" anchor="t"/>
          <a:lstStyle/>
          <a:p>
            <a:pPr marL="0" indent="0">
              <a:lnSpc>
                <a:spcPts val="1900"/>
              </a:lnSpc>
              <a:buNone/>
            </a:pPr>
            <a:r>
              <a:rPr lang="en-US" sz="1250" dirty="0">
                <a:solidFill>
                  <a:srgbClr val="1B2A41"/>
                </a:solidFill>
                <a:latin typeface="Calibri" pitchFamily="34" charset="0"/>
                <a:ea typeface="Calibri" pitchFamily="34" charset="-122"/>
                <a:cs typeface="Calibri" pitchFamily="34" charset="-120"/>
              </a:rPr>
              <a:t>Wine type classification is an important application of machine learning that can help automate the identification of wine based on its chemical properties. This project proposes a Regularized Logistic Regression-based Wine Type Classification System that classifies wine as either Red or White using physicochemical features such as acidity, residual sugar, chlorides, sulphates, alcohol content, density, and pH. Regularization is incorporated into the logistic regression model to reduce overfitting, improve generalization, and select the most meaningful features for classification. The proposed system evaluates the model using accuracy, precision, recall, F1-score, and a confusion matrix. Unlike a basic wine classifier, the system can also provide a confidence score and feature-based explanation for each prediction, allowing users to understand why a particular wine is classified as red or white. This makes the system more transparent, lightweight, and suitable for practical wine-quality analysis and decision-support applications.</a:t>
            </a:r>
            <a:endParaRPr lang="en-US" sz="1250" dirty="0"/>
          </a:p>
        </p:txBody>
      </p:sp>
      <p:sp>
        <p:nvSpPr>
          <p:cNvPr id="6" name="Text 4"/>
          <p:cNvSpPr txBox="1"/>
          <p:nvPr/>
        </p:nvSpPr>
        <p:spPr>
          <a:xfrm>
            <a:off x="7863840" y="1554480"/>
            <a:ext cx="3657600" cy="274320"/>
          </a:xfrm>
          <a:prstGeom prst="rect">
            <a:avLst/>
          </a:prstGeom>
          <a:noFill/>
          <a:ln/>
        </p:spPr>
        <p:txBody>
          <a:bodyPr wrap="square" lIns="0" tIns="0" rIns="0" bIns="0" rtlCol="0" anchor="ctr"/>
          <a:lstStyle/>
          <a:p>
            <a:pPr marL="0" indent="0">
              <a:buNone/>
            </a:pPr>
            <a:r>
              <a:rPr lang="en-US" sz="1200" b="1" dirty="0">
                <a:solidFill>
                  <a:srgbClr val="6B7688"/>
                </a:solidFill>
                <a:latin typeface="Calibri" pitchFamily="34" charset="0"/>
                <a:ea typeface="Calibri" pitchFamily="34" charset="-122"/>
                <a:cs typeface="Calibri" pitchFamily="34" charset="-120"/>
              </a:rPr>
              <a:t>Core Techniques</a:t>
            </a:r>
            <a:endParaRPr lang="en-US" sz="1200" dirty="0"/>
          </a:p>
        </p:txBody>
      </p:sp>
      <p:sp>
        <p:nvSpPr>
          <p:cNvPr id="7" name="Shape 5"/>
          <p:cNvSpPr/>
          <p:nvPr/>
        </p:nvSpPr>
        <p:spPr>
          <a:xfrm>
            <a:off x="7863840" y="1920240"/>
            <a:ext cx="3685032" cy="822960"/>
          </a:xfrm>
          <a:prstGeom prst="roundRect">
            <a:avLst>
              <a:gd name="adj" fmla="val 6667"/>
            </a:avLst>
          </a:prstGeom>
          <a:solidFill>
            <a:srgbClr val="0B1B33"/>
          </a:solidFill>
          <a:ln w="12700">
            <a:solidFill>
              <a:srgbClr val="0B1B33"/>
            </a:solidFill>
            <a:prstDash val="solid"/>
          </a:ln>
        </p:spPr>
      </p:sp>
      <p:sp>
        <p:nvSpPr>
          <p:cNvPr id="8" name="Text 6"/>
          <p:cNvSpPr txBox="1"/>
          <p:nvPr/>
        </p:nvSpPr>
        <p:spPr>
          <a:xfrm>
            <a:off x="8046720" y="2011680"/>
            <a:ext cx="33832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Logistic Regression</a:t>
            </a:r>
            <a:endParaRPr lang="en-US" sz="1400" dirty="0"/>
          </a:p>
        </p:txBody>
      </p:sp>
      <p:sp>
        <p:nvSpPr>
          <p:cNvPr id="9" name="Text 7"/>
          <p:cNvSpPr txBox="1"/>
          <p:nvPr/>
        </p:nvSpPr>
        <p:spPr>
          <a:xfrm>
            <a:off x="8046720" y="2350008"/>
            <a:ext cx="3383280" cy="274320"/>
          </a:xfrm>
          <a:prstGeom prst="rect">
            <a:avLst/>
          </a:prstGeom>
          <a:noFill/>
          <a:ln/>
        </p:spPr>
        <p:txBody>
          <a:bodyPr wrap="square" lIns="0" tIns="0" rIns="0" bIns="0" rtlCol="0" anchor="ctr"/>
          <a:lstStyle/>
          <a:p>
            <a:pPr marL="0" indent="0">
              <a:buNone/>
            </a:pPr>
            <a:r>
              <a:rPr lang="en-US" sz="1100" dirty="0">
                <a:solidFill>
                  <a:srgbClr val="AFC6E9"/>
                </a:solidFill>
                <a:latin typeface="Calibri" pitchFamily="34" charset="0"/>
                <a:ea typeface="Calibri" pitchFamily="34" charset="-122"/>
                <a:cs typeface="Calibri" pitchFamily="34" charset="-120"/>
              </a:rPr>
              <a:t>Supervised classification of red vs. white wine</a:t>
            </a:r>
            <a:endParaRPr lang="en-US" sz="1100" dirty="0"/>
          </a:p>
        </p:txBody>
      </p:sp>
      <p:sp>
        <p:nvSpPr>
          <p:cNvPr id="10" name="Shape 8"/>
          <p:cNvSpPr/>
          <p:nvPr/>
        </p:nvSpPr>
        <p:spPr>
          <a:xfrm>
            <a:off x="7863840" y="2880360"/>
            <a:ext cx="3685032" cy="822960"/>
          </a:xfrm>
          <a:prstGeom prst="roundRect">
            <a:avLst>
              <a:gd name="adj" fmla="val 6667"/>
            </a:avLst>
          </a:prstGeom>
          <a:solidFill>
            <a:srgbClr val="0B1B33"/>
          </a:solidFill>
          <a:ln w="12700">
            <a:solidFill>
              <a:srgbClr val="0B1B33"/>
            </a:solidFill>
            <a:prstDash val="solid"/>
          </a:ln>
        </p:spPr>
      </p:sp>
      <p:sp>
        <p:nvSpPr>
          <p:cNvPr id="11" name="Text 9"/>
          <p:cNvSpPr txBox="1"/>
          <p:nvPr/>
        </p:nvSpPr>
        <p:spPr>
          <a:xfrm>
            <a:off x="8046720" y="2971800"/>
            <a:ext cx="338328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L1 / L2 Regularization</a:t>
            </a:r>
            <a:endParaRPr lang="en-US" sz="1400" dirty="0"/>
          </a:p>
        </p:txBody>
      </p:sp>
      <p:sp>
        <p:nvSpPr>
          <p:cNvPr id="12" name="Text 10"/>
          <p:cNvSpPr txBox="1"/>
          <p:nvPr/>
        </p:nvSpPr>
        <p:spPr>
          <a:xfrm>
            <a:off x="8046720" y="3310128"/>
            <a:ext cx="3383280" cy="274320"/>
          </a:xfrm>
          <a:prstGeom prst="rect">
            <a:avLst/>
          </a:prstGeom>
          <a:noFill/>
          <a:ln/>
        </p:spPr>
        <p:txBody>
          <a:bodyPr wrap="square" lIns="0" tIns="0" rIns="0" bIns="0" rtlCol="0" anchor="ctr"/>
          <a:lstStyle/>
          <a:p>
            <a:pPr marL="0" indent="0">
              <a:buNone/>
            </a:pPr>
            <a:r>
              <a:rPr lang="en-US" sz="1100" dirty="0">
                <a:solidFill>
                  <a:srgbClr val="AFC6E9"/>
                </a:solidFill>
                <a:latin typeface="Calibri" pitchFamily="34" charset="0"/>
                <a:ea typeface="Calibri" pitchFamily="34" charset="-122"/>
                <a:cs typeface="Calibri" pitchFamily="34" charset="-120"/>
              </a:rPr>
              <a:t>Reduces overfitting and selects key features</a:t>
            </a:r>
            <a:endParaRPr lang="en-US" sz="1100" dirty="0"/>
          </a:p>
        </p:txBody>
      </p:sp>
      <p:sp>
        <p:nvSpPr>
          <p:cNvPr id="13" name="Text 11"/>
          <p:cNvSpPr txBox="1"/>
          <p:nvPr/>
        </p:nvSpPr>
        <p:spPr>
          <a:xfrm>
            <a:off x="7863840" y="3977640"/>
            <a:ext cx="3657600" cy="274320"/>
          </a:xfrm>
          <a:prstGeom prst="rect">
            <a:avLst/>
          </a:prstGeom>
          <a:noFill/>
          <a:ln/>
        </p:spPr>
        <p:txBody>
          <a:bodyPr wrap="square" lIns="0" tIns="0" rIns="0" bIns="0" rtlCol="0" anchor="ctr"/>
          <a:lstStyle/>
          <a:p>
            <a:pPr marL="0" indent="0">
              <a:buNone/>
            </a:pPr>
            <a:r>
              <a:rPr lang="en-US" sz="1200" b="1" dirty="0">
                <a:solidFill>
                  <a:srgbClr val="6B7688"/>
                </a:solidFill>
                <a:latin typeface="Calibri" pitchFamily="34" charset="0"/>
                <a:ea typeface="Calibri" pitchFamily="34" charset="-122"/>
                <a:cs typeface="Calibri" pitchFamily="34" charset="-120"/>
              </a:rPr>
              <a:t>Evaluation Metrics</a:t>
            </a:r>
            <a:endParaRPr lang="en-US" sz="1200" dirty="0"/>
          </a:p>
        </p:txBody>
      </p:sp>
      <p:sp>
        <p:nvSpPr>
          <p:cNvPr id="14" name="Shape 12"/>
          <p:cNvSpPr/>
          <p:nvPr/>
        </p:nvSpPr>
        <p:spPr>
          <a:xfrm>
            <a:off x="7863840" y="4389120"/>
            <a:ext cx="1124712" cy="384048"/>
          </a:xfrm>
          <a:prstGeom prst="roundRect">
            <a:avLst>
              <a:gd name="adj" fmla="val 47619"/>
            </a:avLst>
          </a:prstGeom>
          <a:solidFill>
            <a:srgbClr val="FFFFFF"/>
          </a:solidFill>
          <a:ln w="12700">
            <a:solidFill>
              <a:srgbClr val="2E5A9C"/>
            </a:solidFill>
            <a:prstDash val="solid"/>
          </a:ln>
        </p:spPr>
      </p:sp>
      <p:sp>
        <p:nvSpPr>
          <p:cNvPr id="15" name="Text 13"/>
          <p:cNvSpPr txBox="1"/>
          <p:nvPr/>
        </p:nvSpPr>
        <p:spPr>
          <a:xfrm>
            <a:off x="7863840" y="4389120"/>
            <a:ext cx="1124712" cy="384048"/>
          </a:xfrm>
          <a:prstGeom prst="rect">
            <a:avLst/>
          </a:prstGeom>
          <a:noFill/>
          <a:ln/>
        </p:spPr>
        <p:txBody>
          <a:bodyPr wrap="square" lIns="0" tIns="0" rIns="0" bIns="0" rtlCol="0" anchor="ctr"/>
          <a:lstStyle/>
          <a:p>
            <a:pPr marL="0" indent="0" algn="ctr">
              <a:buNone/>
            </a:pPr>
            <a:r>
              <a:rPr lang="en-US" sz="1050" dirty="0">
                <a:solidFill>
                  <a:srgbClr val="2E5A9C"/>
                </a:solidFill>
                <a:latin typeface="Calibri" pitchFamily="34" charset="0"/>
                <a:ea typeface="Calibri" pitchFamily="34" charset="-122"/>
                <a:cs typeface="Calibri" pitchFamily="34" charset="-120"/>
              </a:rPr>
              <a:t>Accuracy</a:t>
            </a:r>
            <a:endParaRPr lang="en-US" sz="1050" dirty="0"/>
          </a:p>
        </p:txBody>
      </p:sp>
      <p:sp>
        <p:nvSpPr>
          <p:cNvPr id="16" name="Shape 14"/>
          <p:cNvSpPr/>
          <p:nvPr/>
        </p:nvSpPr>
        <p:spPr>
          <a:xfrm>
            <a:off x="9116568" y="4389120"/>
            <a:ext cx="1124712" cy="384048"/>
          </a:xfrm>
          <a:prstGeom prst="roundRect">
            <a:avLst>
              <a:gd name="adj" fmla="val 47619"/>
            </a:avLst>
          </a:prstGeom>
          <a:solidFill>
            <a:srgbClr val="FFFFFF"/>
          </a:solidFill>
          <a:ln w="12700">
            <a:solidFill>
              <a:srgbClr val="2E5A9C"/>
            </a:solidFill>
            <a:prstDash val="solid"/>
          </a:ln>
        </p:spPr>
      </p:sp>
      <p:sp>
        <p:nvSpPr>
          <p:cNvPr id="17" name="Text 15"/>
          <p:cNvSpPr txBox="1"/>
          <p:nvPr/>
        </p:nvSpPr>
        <p:spPr>
          <a:xfrm>
            <a:off x="9116568" y="4389120"/>
            <a:ext cx="1124712" cy="384048"/>
          </a:xfrm>
          <a:prstGeom prst="rect">
            <a:avLst/>
          </a:prstGeom>
          <a:noFill/>
          <a:ln/>
        </p:spPr>
        <p:txBody>
          <a:bodyPr wrap="square" lIns="0" tIns="0" rIns="0" bIns="0" rtlCol="0" anchor="ctr"/>
          <a:lstStyle/>
          <a:p>
            <a:pPr marL="0" indent="0" algn="ctr">
              <a:buNone/>
            </a:pPr>
            <a:r>
              <a:rPr lang="en-US" sz="1050" dirty="0">
                <a:solidFill>
                  <a:srgbClr val="2E5A9C"/>
                </a:solidFill>
                <a:latin typeface="Calibri" pitchFamily="34" charset="0"/>
                <a:ea typeface="Calibri" pitchFamily="34" charset="-122"/>
                <a:cs typeface="Calibri" pitchFamily="34" charset="-120"/>
              </a:rPr>
              <a:t>Precision</a:t>
            </a:r>
            <a:endParaRPr lang="en-US" sz="1050" dirty="0"/>
          </a:p>
        </p:txBody>
      </p:sp>
      <p:sp>
        <p:nvSpPr>
          <p:cNvPr id="18" name="Shape 16"/>
          <p:cNvSpPr/>
          <p:nvPr/>
        </p:nvSpPr>
        <p:spPr>
          <a:xfrm>
            <a:off x="10369296" y="4389120"/>
            <a:ext cx="1124712" cy="384048"/>
          </a:xfrm>
          <a:prstGeom prst="roundRect">
            <a:avLst>
              <a:gd name="adj" fmla="val 47619"/>
            </a:avLst>
          </a:prstGeom>
          <a:solidFill>
            <a:srgbClr val="FFFFFF"/>
          </a:solidFill>
          <a:ln w="12700">
            <a:solidFill>
              <a:srgbClr val="2E5A9C"/>
            </a:solidFill>
            <a:prstDash val="solid"/>
          </a:ln>
        </p:spPr>
      </p:sp>
      <p:sp>
        <p:nvSpPr>
          <p:cNvPr id="19" name="Text 17"/>
          <p:cNvSpPr txBox="1"/>
          <p:nvPr/>
        </p:nvSpPr>
        <p:spPr>
          <a:xfrm>
            <a:off x="10369296" y="4389120"/>
            <a:ext cx="1124712" cy="384048"/>
          </a:xfrm>
          <a:prstGeom prst="rect">
            <a:avLst/>
          </a:prstGeom>
          <a:noFill/>
          <a:ln/>
        </p:spPr>
        <p:txBody>
          <a:bodyPr wrap="square" lIns="0" tIns="0" rIns="0" bIns="0" rtlCol="0" anchor="ctr"/>
          <a:lstStyle/>
          <a:p>
            <a:pPr marL="0" indent="0" algn="ctr">
              <a:buNone/>
            </a:pPr>
            <a:r>
              <a:rPr lang="en-US" sz="1050" dirty="0">
                <a:solidFill>
                  <a:srgbClr val="2E5A9C"/>
                </a:solidFill>
                <a:latin typeface="Calibri" pitchFamily="34" charset="0"/>
                <a:ea typeface="Calibri" pitchFamily="34" charset="-122"/>
                <a:cs typeface="Calibri" pitchFamily="34" charset="-120"/>
              </a:rPr>
              <a:t>Recall</a:t>
            </a:r>
            <a:endParaRPr lang="en-US" sz="1050" dirty="0"/>
          </a:p>
        </p:txBody>
      </p:sp>
      <p:sp>
        <p:nvSpPr>
          <p:cNvPr id="20" name="Shape 18"/>
          <p:cNvSpPr/>
          <p:nvPr/>
        </p:nvSpPr>
        <p:spPr>
          <a:xfrm>
            <a:off x="7863840" y="4937760"/>
            <a:ext cx="1124712" cy="384048"/>
          </a:xfrm>
          <a:prstGeom prst="roundRect">
            <a:avLst>
              <a:gd name="adj" fmla="val 47619"/>
            </a:avLst>
          </a:prstGeom>
          <a:solidFill>
            <a:srgbClr val="FFFFFF"/>
          </a:solidFill>
          <a:ln w="12700">
            <a:solidFill>
              <a:srgbClr val="2E5A9C"/>
            </a:solidFill>
            <a:prstDash val="solid"/>
          </a:ln>
        </p:spPr>
      </p:sp>
      <p:sp>
        <p:nvSpPr>
          <p:cNvPr id="21" name="Text 19"/>
          <p:cNvSpPr txBox="1"/>
          <p:nvPr/>
        </p:nvSpPr>
        <p:spPr>
          <a:xfrm>
            <a:off x="7863840" y="4937760"/>
            <a:ext cx="1124712" cy="384048"/>
          </a:xfrm>
          <a:prstGeom prst="rect">
            <a:avLst/>
          </a:prstGeom>
          <a:noFill/>
          <a:ln/>
        </p:spPr>
        <p:txBody>
          <a:bodyPr wrap="square" lIns="0" tIns="0" rIns="0" bIns="0" rtlCol="0" anchor="ctr"/>
          <a:lstStyle/>
          <a:p>
            <a:pPr marL="0" indent="0" algn="ctr">
              <a:buNone/>
            </a:pPr>
            <a:r>
              <a:rPr lang="en-US" sz="1050" dirty="0">
                <a:solidFill>
                  <a:srgbClr val="2E5A9C"/>
                </a:solidFill>
                <a:latin typeface="Calibri" pitchFamily="34" charset="0"/>
                <a:ea typeface="Calibri" pitchFamily="34" charset="-122"/>
                <a:cs typeface="Calibri" pitchFamily="34" charset="-120"/>
              </a:rPr>
              <a:t>F1-Score</a:t>
            </a:r>
            <a:endParaRPr lang="en-US" sz="1050" dirty="0"/>
          </a:p>
        </p:txBody>
      </p:sp>
      <p:sp>
        <p:nvSpPr>
          <p:cNvPr id="22" name="Shape 20"/>
          <p:cNvSpPr/>
          <p:nvPr/>
        </p:nvSpPr>
        <p:spPr>
          <a:xfrm>
            <a:off x="7863840" y="4937760"/>
            <a:ext cx="1371600" cy="384048"/>
          </a:xfrm>
          <a:prstGeom prst="roundRect">
            <a:avLst>
              <a:gd name="adj" fmla="val 47619"/>
            </a:avLst>
          </a:prstGeom>
          <a:solidFill>
            <a:srgbClr val="FFFFFF"/>
          </a:solidFill>
          <a:ln w="12700">
            <a:solidFill>
              <a:srgbClr val="2E5A9C"/>
            </a:solidFill>
            <a:prstDash val="solid"/>
          </a:ln>
        </p:spPr>
      </p:sp>
      <p:sp>
        <p:nvSpPr>
          <p:cNvPr id="23" name="Text 21"/>
          <p:cNvSpPr txBox="1"/>
          <p:nvPr/>
        </p:nvSpPr>
        <p:spPr>
          <a:xfrm>
            <a:off x="7863840" y="4937760"/>
            <a:ext cx="1371600" cy="384048"/>
          </a:xfrm>
          <a:prstGeom prst="rect">
            <a:avLst/>
          </a:prstGeom>
          <a:noFill/>
          <a:ln/>
        </p:spPr>
        <p:txBody>
          <a:bodyPr wrap="square" lIns="0" tIns="0" rIns="0" bIns="0" rtlCol="0" anchor="ctr"/>
          <a:lstStyle/>
          <a:p>
            <a:pPr marL="0" indent="0" algn="ctr">
              <a:buNone/>
            </a:pPr>
            <a:r>
              <a:rPr lang="en-US" sz="1050" dirty="0">
                <a:solidFill>
                  <a:srgbClr val="2E5A9C"/>
                </a:solidFill>
                <a:latin typeface="Calibri" pitchFamily="34" charset="0"/>
                <a:ea typeface="Calibri" pitchFamily="34" charset="-122"/>
                <a:cs typeface="Calibri" pitchFamily="34" charset="-120"/>
              </a:rPr>
              <a:t>Confusion Matrix</a:t>
            </a:r>
            <a:endParaRPr lang="en-US" sz="1050" dirty="0"/>
          </a:p>
        </p:txBody>
      </p:sp>
      <p:sp>
        <p:nvSpPr>
          <p:cNvPr id="24" name="Shape 22"/>
          <p:cNvSpPr/>
          <p:nvPr/>
        </p:nvSpPr>
        <p:spPr>
          <a:xfrm>
            <a:off x="10369296" y="4937760"/>
            <a:ext cx="1124712" cy="384048"/>
          </a:xfrm>
          <a:prstGeom prst="roundRect">
            <a:avLst>
              <a:gd name="adj" fmla="val 47619"/>
            </a:avLst>
          </a:prstGeom>
          <a:solidFill>
            <a:srgbClr val="FFFFFF"/>
          </a:solidFill>
          <a:ln w="12700">
            <a:solidFill>
              <a:srgbClr val="2E5A9C"/>
            </a:solidFill>
            <a:prstDash val="solid"/>
          </a:ln>
        </p:spPr>
      </p:sp>
      <p:sp>
        <p:nvSpPr>
          <p:cNvPr id="25" name="Text 23"/>
          <p:cNvSpPr txBox="1"/>
          <p:nvPr/>
        </p:nvSpPr>
        <p:spPr>
          <a:xfrm>
            <a:off x="10369296" y="4937760"/>
            <a:ext cx="1124712" cy="384048"/>
          </a:xfrm>
          <a:prstGeom prst="rect">
            <a:avLst/>
          </a:prstGeom>
          <a:noFill/>
          <a:ln/>
        </p:spPr>
        <p:txBody>
          <a:bodyPr wrap="square" lIns="0" tIns="0" rIns="0" bIns="0" rtlCol="0" anchor="ctr"/>
          <a:lstStyle/>
          <a:p>
            <a:pPr marL="0" indent="0" algn="ctr">
              <a:buNone/>
            </a:pPr>
            <a:r>
              <a:rPr lang="en-US" sz="1050" dirty="0">
                <a:solidFill>
                  <a:srgbClr val="2E5A9C"/>
                </a:solidFill>
                <a:latin typeface="Calibri" pitchFamily="34" charset="0"/>
                <a:ea typeface="Calibri" pitchFamily="34" charset="-122"/>
                <a:cs typeface="Calibri" pitchFamily="34" charset="-120"/>
              </a:rPr>
              <a:t>ROC-AUC</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050" b="1" kern="0" spc="200" dirty="0">
                <a:solidFill>
                  <a:srgbClr val="E63946"/>
                </a:solidFill>
                <a:latin typeface="Calibri" pitchFamily="34" charset="0"/>
                <a:ea typeface="Calibri" pitchFamily="34" charset="-122"/>
                <a:cs typeface="Calibri" pitchFamily="34" charset="-120"/>
              </a:rPr>
              <a:t>DATASET COLLECTION</a:t>
            </a:r>
            <a:endParaRPr lang="en-US" sz="1050" dirty="0"/>
          </a:p>
        </p:txBody>
      </p:sp>
      <p:sp>
        <p:nvSpPr>
          <p:cNvPr id="3" name="Text 1"/>
          <p:cNvSpPr txBox="1"/>
          <p:nvPr/>
        </p:nvSpPr>
        <p:spPr>
          <a:xfrm>
            <a:off x="640080" y="713232"/>
            <a:ext cx="1051560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Sourcing and Understanding the Dataset</a:t>
            </a:r>
            <a:endParaRPr lang="en-US" sz="2800" dirty="0"/>
          </a:p>
        </p:txBody>
      </p:sp>
      <p:sp>
        <p:nvSpPr>
          <p:cNvPr id="4" name="Shape 2"/>
          <p:cNvSpPr/>
          <p:nvPr/>
        </p:nvSpPr>
        <p:spPr>
          <a:xfrm>
            <a:off x="640080" y="1554480"/>
            <a:ext cx="6309360" cy="4663440"/>
          </a:xfrm>
          <a:prstGeom prst="roundRect">
            <a:avLst>
              <a:gd name="adj" fmla="val 1176"/>
            </a:avLst>
          </a:prstGeom>
          <a:solidFill>
            <a:srgbClr val="FFFFFF"/>
          </a:solidFill>
          <a:ln w="12700">
            <a:solidFill>
              <a:srgbClr val="DDE3ED"/>
            </a:solidFill>
            <a:prstDash val="solid"/>
          </a:ln>
        </p:spPr>
      </p:sp>
      <p:sp>
        <p:nvSpPr>
          <p:cNvPr id="5" name="Text 3"/>
          <p:cNvSpPr txBox="1"/>
          <p:nvPr/>
        </p:nvSpPr>
        <p:spPr>
          <a:xfrm>
            <a:off x="914400" y="1783080"/>
            <a:ext cx="5760720" cy="274320"/>
          </a:xfrm>
          <a:prstGeom prst="rect">
            <a:avLst/>
          </a:prstGeom>
          <a:noFill/>
          <a:ln/>
        </p:spPr>
        <p:txBody>
          <a:bodyPr wrap="square" lIns="0" tIns="0" rIns="0" bIns="0" rtlCol="0" anchor="ctr"/>
          <a:lstStyle/>
          <a:p>
            <a:pPr marL="0" indent="0">
              <a:buNone/>
            </a:pPr>
            <a:r>
              <a:rPr lang="en-US" sz="1350" b="1" dirty="0">
                <a:solidFill>
                  <a:srgbClr val="1B2A41"/>
                </a:solidFill>
                <a:latin typeface="Calibri" pitchFamily="34" charset="0"/>
                <a:ea typeface="Calibri" pitchFamily="34" charset="-122"/>
                <a:cs typeface="Calibri" pitchFamily="34" charset="-120"/>
              </a:rPr>
              <a:t>Source</a:t>
            </a:r>
            <a:endParaRPr lang="en-US" sz="1350" dirty="0"/>
          </a:p>
        </p:txBody>
      </p:sp>
      <p:sp>
        <p:nvSpPr>
          <p:cNvPr id="6" name="Text 4"/>
          <p:cNvSpPr txBox="1"/>
          <p:nvPr/>
        </p:nvSpPr>
        <p:spPr>
          <a:xfrm>
            <a:off x="914400" y="2148840"/>
            <a:ext cx="5760720" cy="914400"/>
          </a:xfrm>
          <a:prstGeom prst="rect">
            <a:avLst/>
          </a:prstGeom>
          <a:noFill/>
          <a:ln/>
        </p:spPr>
        <p:txBody>
          <a:bodyPr wrap="square" lIns="0" tIns="0" rIns="0" bIns="0" rtlCol="0" anchor="t"/>
          <a:lstStyle/>
          <a:p>
            <a:pPr marL="0" indent="0">
              <a:buNone/>
            </a:pPr>
            <a:r>
              <a:rPr lang="en-US" sz="1250" dirty="0">
                <a:solidFill>
                  <a:srgbClr val="6B7688"/>
                </a:solidFill>
                <a:latin typeface="Calibri" pitchFamily="34" charset="0"/>
                <a:ea typeface="Calibri" pitchFamily="34" charset="-122"/>
                <a:cs typeface="Calibri" pitchFamily="34" charset="-120"/>
              </a:rPr>
              <a:t>UCI Machine Learning Repository — “Wine Quality” dataset (Cortez et al., 2009), Portuguese Vinho Verde wines. The red and white CSV files were downloaded and merged into one file for analysis.</a:t>
            </a:r>
            <a:endParaRPr lang="en-US" sz="1250" dirty="0"/>
          </a:p>
        </p:txBody>
      </p:sp>
      <p:sp>
        <p:nvSpPr>
          <p:cNvPr id="7" name="Text 5"/>
          <p:cNvSpPr txBox="1"/>
          <p:nvPr/>
        </p:nvSpPr>
        <p:spPr>
          <a:xfrm>
            <a:off x="914400" y="3246120"/>
            <a:ext cx="5760720" cy="274320"/>
          </a:xfrm>
          <a:prstGeom prst="rect">
            <a:avLst/>
          </a:prstGeom>
          <a:noFill/>
          <a:ln/>
        </p:spPr>
        <p:txBody>
          <a:bodyPr wrap="square" lIns="0" tIns="0" rIns="0" bIns="0" rtlCol="0" anchor="ctr"/>
          <a:lstStyle/>
          <a:p>
            <a:pPr marL="0" indent="0">
              <a:buNone/>
            </a:pPr>
            <a:r>
              <a:rPr lang="en-US" sz="1350" b="1" dirty="0">
                <a:solidFill>
                  <a:srgbClr val="1B2A41"/>
                </a:solidFill>
                <a:latin typeface="Calibri" pitchFamily="34" charset="0"/>
                <a:ea typeface="Calibri" pitchFamily="34" charset="-122"/>
                <a:cs typeface="Calibri" pitchFamily="34" charset="-120"/>
              </a:rPr>
              <a:t>Target / Output Column</a:t>
            </a:r>
            <a:endParaRPr lang="en-US" sz="1350" dirty="0"/>
          </a:p>
        </p:txBody>
      </p:sp>
      <p:sp>
        <p:nvSpPr>
          <p:cNvPr id="8" name="Text 6"/>
          <p:cNvSpPr txBox="1"/>
          <p:nvPr/>
        </p:nvSpPr>
        <p:spPr>
          <a:xfrm>
            <a:off x="914400" y="3611880"/>
            <a:ext cx="5760720" cy="914400"/>
          </a:xfrm>
          <a:prstGeom prst="rect">
            <a:avLst/>
          </a:prstGeom>
          <a:noFill/>
          <a:ln/>
        </p:spPr>
        <p:txBody>
          <a:bodyPr wrap="square" lIns="0" tIns="0" rIns="0" bIns="0" rtlCol="0" anchor="t"/>
          <a:lstStyle/>
          <a:p>
            <a:pPr marL="0" indent="0">
              <a:buNone/>
            </a:pPr>
            <a:r>
              <a:rPr lang="en-US" sz="1250" dirty="0">
                <a:solidFill>
                  <a:srgbClr val="6B7688"/>
                </a:solidFill>
                <a:latin typeface="Calibri" pitchFamily="34" charset="0"/>
                <a:ea typeface="Calibri" pitchFamily="34" charset="-122"/>
                <a:cs typeface="Calibri" pitchFamily="34" charset="-120"/>
              </a:rPr>
              <a:t>type — red or white, encoded as is_white (1 = white, 0 = red). This is the column the model is trained to predict.</a:t>
            </a:r>
            <a:endParaRPr lang="en-US" sz="1250" dirty="0"/>
          </a:p>
        </p:txBody>
      </p:sp>
      <p:sp>
        <p:nvSpPr>
          <p:cNvPr id="9" name="Text 7"/>
          <p:cNvSpPr txBox="1"/>
          <p:nvPr/>
        </p:nvSpPr>
        <p:spPr>
          <a:xfrm>
            <a:off x="914400" y="4709160"/>
            <a:ext cx="5760720" cy="274320"/>
          </a:xfrm>
          <a:prstGeom prst="rect">
            <a:avLst/>
          </a:prstGeom>
          <a:noFill/>
          <a:ln/>
        </p:spPr>
        <p:txBody>
          <a:bodyPr wrap="square" lIns="0" tIns="0" rIns="0" bIns="0" rtlCol="0" anchor="ctr"/>
          <a:lstStyle/>
          <a:p>
            <a:pPr marL="0" indent="0">
              <a:buNone/>
            </a:pPr>
            <a:r>
              <a:rPr lang="en-US" sz="1350" b="1" dirty="0">
                <a:solidFill>
                  <a:srgbClr val="1B2A41"/>
                </a:solidFill>
                <a:latin typeface="Calibri" pitchFamily="34" charset="0"/>
                <a:ea typeface="Calibri" pitchFamily="34" charset="-122"/>
                <a:cs typeface="Calibri" pitchFamily="34" charset="-120"/>
              </a:rPr>
              <a:t>Feature Columns</a:t>
            </a:r>
            <a:endParaRPr lang="en-US" sz="1350" dirty="0"/>
          </a:p>
        </p:txBody>
      </p:sp>
      <p:sp>
        <p:nvSpPr>
          <p:cNvPr id="10" name="Text 8"/>
          <p:cNvSpPr txBox="1"/>
          <p:nvPr/>
        </p:nvSpPr>
        <p:spPr>
          <a:xfrm>
            <a:off x="914400" y="5074920"/>
            <a:ext cx="5760720" cy="914400"/>
          </a:xfrm>
          <a:prstGeom prst="rect">
            <a:avLst/>
          </a:prstGeom>
          <a:noFill/>
          <a:ln/>
        </p:spPr>
        <p:txBody>
          <a:bodyPr wrap="square" lIns="0" tIns="0" rIns="0" bIns="0" rtlCol="0" anchor="t"/>
          <a:lstStyle/>
          <a:p>
            <a:pPr marL="0" indent="0">
              <a:buNone/>
            </a:pPr>
            <a:r>
              <a:rPr lang="en-US" sz="1250" dirty="0">
                <a:solidFill>
                  <a:srgbClr val="6B7688"/>
                </a:solidFill>
                <a:latin typeface="Calibri" pitchFamily="34" charset="0"/>
                <a:ea typeface="Calibri" pitchFamily="34" charset="-122"/>
                <a:cs typeface="Calibri" pitchFamily="34" charset="-120"/>
              </a:rPr>
              <a:t>11 physicochemical measurements from lab tests. The quality column is a subjective tasting score, so it is not used as an input.</a:t>
            </a:r>
            <a:endParaRPr lang="en-US" sz="1250" dirty="0"/>
          </a:p>
        </p:txBody>
      </p:sp>
      <p:sp>
        <p:nvSpPr>
          <p:cNvPr id="11" name="Shape 9"/>
          <p:cNvSpPr/>
          <p:nvPr/>
        </p:nvSpPr>
        <p:spPr>
          <a:xfrm>
            <a:off x="7223760" y="1554480"/>
            <a:ext cx="4325112" cy="4663440"/>
          </a:xfrm>
          <a:prstGeom prst="roundRect">
            <a:avLst>
              <a:gd name="adj" fmla="val 1268"/>
            </a:avLst>
          </a:prstGeom>
          <a:solidFill>
            <a:srgbClr val="0B1B33"/>
          </a:solidFill>
          <a:ln w="12700">
            <a:solidFill>
              <a:srgbClr val="0B1B33"/>
            </a:solidFill>
            <a:prstDash val="solid"/>
          </a:ln>
        </p:spPr>
      </p:sp>
      <p:sp>
        <p:nvSpPr>
          <p:cNvPr id="12" name="Text 10"/>
          <p:cNvSpPr txBox="1"/>
          <p:nvPr/>
        </p:nvSpPr>
        <p:spPr>
          <a:xfrm>
            <a:off x="7452360" y="1737360"/>
            <a:ext cx="384048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Dataset Schema</a:t>
            </a:r>
            <a:endParaRPr lang="en-US" sz="1300" dirty="0"/>
          </a:p>
        </p:txBody>
      </p:sp>
      <p:sp>
        <p:nvSpPr>
          <p:cNvPr id="13" name="Shape 11"/>
          <p:cNvSpPr/>
          <p:nvPr/>
        </p:nvSpPr>
        <p:spPr>
          <a:xfrm>
            <a:off x="7452360" y="2148840"/>
            <a:ext cx="3867912" cy="603504"/>
          </a:xfrm>
          <a:prstGeom prst="roundRect">
            <a:avLst>
              <a:gd name="adj" fmla="val 7576"/>
            </a:avLst>
          </a:prstGeom>
          <a:solidFill>
            <a:srgbClr val="13294B"/>
          </a:solidFill>
          <a:ln w="12700">
            <a:solidFill>
              <a:srgbClr val="13294B"/>
            </a:solidFill>
            <a:prstDash val="solid"/>
          </a:ln>
        </p:spPr>
      </p:sp>
      <p:sp>
        <p:nvSpPr>
          <p:cNvPr id="14" name="Text 12"/>
          <p:cNvSpPr txBox="1"/>
          <p:nvPr/>
        </p:nvSpPr>
        <p:spPr>
          <a:xfrm>
            <a:off x="7589520" y="2203704"/>
            <a:ext cx="35661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Acidity</a:t>
            </a:r>
            <a:endParaRPr lang="en-US" sz="1200" dirty="0"/>
          </a:p>
        </p:txBody>
      </p:sp>
      <p:sp>
        <p:nvSpPr>
          <p:cNvPr id="15" name="Text 13"/>
          <p:cNvSpPr txBox="1"/>
          <p:nvPr/>
        </p:nvSpPr>
        <p:spPr>
          <a:xfrm>
            <a:off x="7589520" y="2459736"/>
            <a:ext cx="3566160" cy="237744"/>
          </a:xfrm>
          <a:prstGeom prst="rect">
            <a:avLst/>
          </a:prstGeom>
          <a:noFill/>
          <a:ln/>
        </p:spPr>
        <p:txBody>
          <a:bodyPr wrap="square" lIns="0" tIns="0" rIns="0" bIns="0" rtlCol="0" anchor="ctr"/>
          <a:lstStyle/>
          <a:p>
            <a:pPr marL="0" indent="0">
              <a:buNone/>
            </a:pPr>
            <a:r>
              <a:rPr lang="en-US" sz="1050" dirty="0">
                <a:solidFill>
                  <a:srgbClr val="AFC6E9"/>
                </a:solidFill>
                <a:latin typeface="Calibri" pitchFamily="34" charset="0"/>
                <a:ea typeface="Calibri" pitchFamily="34" charset="-122"/>
                <a:cs typeface="Calibri" pitchFamily="34" charset="-120"/>
              </a:rPr>
              <a:t>fixed, volatile, citric acid, pH</a:t>
            </a:r>
            <a:endParaRPr lang="en-US" sz="1050" dirty="0"/>
          </a:p>
        </p:txBody>
      </p:sp>
      <p:sp>
        <p:nvSpPr>
          <p:cNvPr id="16" name="Shape 14"/>
          <p:cNvSpPr/>
          <p:nvPr/>
        </p:nvSpPr>
        <p:spPr>
          <a:xfrm>
            <a:off x="7452360" y="2862072"/>
            <a:ext cx="3867912" cy="603504"/>
          </a:xfrm>
          <a:prstGeom prst="roundRect">
            <a:avLst>
              <a:gd name="adj" fmla="val 7576"/>
            </a:avLst>
          </a:prstGeom>
          <a:solidFill>
            <a:srgbClr val="13294B"/>
          </a:solidFill>
          <a:ln w="12700">
            <a:solidFill>
              <a:srgbClr val="13294B"/>
            </a:solidFill>
            <a:prstDash val="solid"/>
          </a:ln>
        </p:spPr>
      </p:sp>
      <p:sp>
        <p:nvSpPr>
          <p:cNvPr id="17" name="Text 15"/>
          <p:cNvSpPr txBox="1"/>
          <p:nvPr/>
        </p:nvSpPr>
        <p:spPr>
          <a:xfrm>
            <a:off x="7589520" y="2916936"/>
            <a:ext cx="35661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Sugar &amp; Salts</a:t>
            </a:r>
            <a:endParaRPr lang="en-US" sz="1200" dirty="0"/>
          </a:p>
        </p:txBody>
      </p:sp>
      <p:sp>
        <p:nvSpPr>
          <p:cNvPr id="18" name="Text 16"/>
          <p:cNvSpPr txBox="1"/>
          <p:nvPr/>
        </p:nvSpPr>
        <p:spPr>
          <a:xfrm>
            <a:off x="7589520" y="3172968"/>
            <a:ext cx="3566160" cy="237744"/>
          </a:xfrm>
          <a:prstGeom prst="rect">
            <a:avLst/>
          </a:prstGeom>
          <a:noFill/>
          <a:ln/>
        </p:spPr>
        <p:txBody>
          <a:bodyPr wrap="square" lIns="0" tIns="0" rIns="0" bIns="0" rtlCol="0" anchor="ctr"/>
          <a:lstStyle/>
          <a:p>
            <a:pPr marL="0" indent="0">
              <a:buNone/>
            </a:pPr>
            <a:r>
              <a:rPr lang="en-US" sz="1050" dirty="0">
                <a:solidFill>
                  <a:srgbClr val="AFC6E9"/>
                </a:solidFill>
                <a:latin typeface="Calibri" pitchFamily="34" charset="0"/>
                <a:ea typeface="Calibri" pitchFamily="34" charset="-122"/>
                <a:cs typeface="Calibri" pitchFamily="34" charset="-120"/>
              </a:rPr>
              <a:t>residual sugar, chlorides, sulphates</a:t>
            </a:r>
            <a:endParaRPr lang="en-US" sz="1050" dirty="0"/>
          </a:p>
        </p:txBody>
      </p:sp>
      <p:sp>
        <p:nvSpPr>
          <p:cNvPr id="19" name="Shape 17"/>
          <p:cNvSpPr/>
          <p:nvPr/>
        </p:nvSpPr>
        <p:spPr>
          <a:xfrm>
            <a:off x="7452360" y="3575304"/>
            <a:ext cx="3867912" cy="603504"/>
          </a:xfrm>
          <a:prstGeom prst="roundRect">
            <a:avLst>
              <a:gd name="adj" fmla="val 7576"/>
            </a:avLst>
          </a:prstGeom>
          <a:solidFill>
            <a:srgbClr val="13294B"/>
          </a:solidFill>
          <a:ln w="12700">
            <a:solidFill>
              <a:srgbClr val="13294B"/>
            </a:solidFill>
            <a:prstDash val="solid"/>
          </a:ln>
        </p:spPr>
      </p:sp>
      <p:sp>
        <p:nvSpPr>
          <p:cNvPr id="20" name="Text 18"/>
          <p:cNvSpPr txBox="1"/>
          <p:nvPr/>
        </p:nvSpPr>
        <p:spPr>
          <a:xfrm>
            <a:off x="7589520" y="3630168"/>
            <a:ext cx="35661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SO₂ &amp; Body</a:t>
            </a:r>
            <a:endParaRPr lang="en-US" sz="1200" dirty="0"/>
          </a:p>
        </p:txBody>
      </p:sp>
      <p:sp>
        <p:nvSpPr>
          <p:cNvPr id="21" name="Text 19"/>
          <p:cNvSpPr txBox="1"/>
          <p:nvPr/>
        </p:nvSpPr>
        <p:spPr>
          <a:xfrm>
            <a:off x="7589520" y="3886200"/>
            <a:ext cx="3566160" cy="237744"/>
          </a:xfrm>
          <a:prstGeom prst="rect">
            <a:avLst/>
          </a:prstGeom>
          <a:noFill/>
          <a:ln/>
        </p:spPr>
        <p:txBody>
          <a:bodyPr wrap="square" lIns="0" tIns="0" rIns="0" bIns="0" rtlCol="0" anchor="ctr"/>
          <a:lstStyle/>
          <a:p>
            <a:pPr marL="0" indent="0">
              <a:buNone/>
            </a:pPr>
            <a:r>
              <a:rPr lang="en-US" sz="1050" dirty="0">
                <a:solidFill>
                  <a:srgbClr val="AFC6E9"/>
                </a:solidFill>
                <a:latin typeface="Calibri" pitchFamily="34" charset="0"/>
                <a:ea typeface="Calibri" pitchFamily="34" charset="-122"/>
                <a:cs typeface="Calibri" pitchFamily="34" charset="-120"/>
              </a:rPr>
              <a:t>free SO₂, total SO₂, density, alcohol</a:t>
            </a:r>
            <a:endParaRPr lang="en-US" sz="1050" dirty="0"/>
          </a:p>
        </p:txBody>
      </p:sp>
      <p:sp>
        <p:nvSpPr>
          <p:cNvPr id="22" name="Shape 20"/>
          <p:cNvSpPr/>
          <p:nvPr/>
        </p:nvSpPr>
        <p:spPr>
          <a:xfrm>
            <a:off x="7452360" y="4288536"/>
            <a:ext cx="3867912" cy="603504"/>
          </a:xfrm>
          <a:prstGeom prst="roundRect">
            <a:avLst>
              <a:gd name="adj" fmla="val 7576"/>
            </a:avLst>
          </a:prstGeom>
          <a:solidFill>
            <a:srgbClr val="13294B"/>
          </a:solidFill>
          <a:ln w="12700">
            <a:solidFill>
              <a:srgbClr val="13294B"/>
            </a:solidFill>
            <a:prstDash val="solid"/>
          </a:ln>
        </p:spPr>
      </p:sp>
      <p:sp>
        <p:nvSpPr>
          <p:cNvPr id="23" name="Text 21"/>
          <p:cNvSpPr txBox="1"/>
          <p:nvPr/>
        </p:nvSpPr>
        <p:spPr>
          <a:xfrm>
            <a:off x="7589520" y="4343400"/>
            <a:ext cx="35661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p>
        </p:txBody>
      </p:sp>
      <p:sp>
        <p:nvSpPr>
          <p:cNvPr id="24" name="Text 22"/>
          <p:cNvSpPr txBox="1"/>
          <p:nvPr/>
        </p:nvSpPr>
        <p:spPr>
          <a:xfrm>
            <a:off x="7589520" y="4599432"/>
            <a:ext cx="3566160" cy="237744"/>
          </a:xfrm>
          <a:prstGeom prst="rect">
            <a:avLst/>
          </a:prstGeom>
          <a:noFill/>
          <a:ln/>
        </p:spPr>
        <p:txBody>
          <a:bodyPr wrap="square" lIns="0" tIns="0" rIns="0" bIns="0" rtlCol="0" anchor="ctr"/>
          <a:lstStyle/>
          <a:p>
            <a:pPr marL="0" indent="0">
              <a:buNone/>
            </a:pPr>
            <a:r>
              <a:rPr lang="en-US" sz="1050" dirty="0">
                <a:solidFill>
                  <a:srgbClr val="AFC6E9"/>
                </a:solidFill>
                <a:latin typeface="Calibri" pitchFamily="34" charset="0"/>
                <a:ea typeface="Calibri" pitchFamily="34" charset="-122"/>
                <a:cs typeface="Calibri" pitchFamily="34" charset="-120"/>
              </a:rPr>
              <a:t>Target: red / white</a:t>
            </a:r>
            <a:endParaRPr lang="en-US" sz="1050" dirty="0"/>
          </a:p>
        </p:txBody>
      </p:sp>
      <p:sp>
        <p:nvSpPr>
          <p:cNvPr id="25" name="Text 23"/>
          <p:cNvSpPr txBox="1"/>
          <p:nvPr/>
        </p:nvSpPr>
        <p:spPr>
          <a:xfrm>
            <a:off x="7452360" y="5166360"/>
            <a:ext cx="1828800" cy="548640"/>
          </a:xfrm>
          <a:prstGeom prst="rect">
            <a:avLst/>
          </a:prstGeom>
          <a:noFill/>
          <a:ln/>
        </p:spPr>
        <p:txBody>
          <a:bodyPr wrap="square" lIns="0" tIns="0" rIns="0" bIns="0" rtlCol="0" anchor="ctr"/>
          <a:lstStyle/>
          <a:p>
            <a:pPr marL="0" indent="0">
              <a:buNone/>
            </a:pPr>
            <a:r>
              <a:rPr lang="en-US" sz="3000" b="1" dirty="0">
                <a:solidFill>
                  <a:srgbClr val="E63946"/>
                </a:solidFill>
                <a:latin typeface="Cambria" pitchFamily="34" charset="0"/>
                <a:ea typeface="Cambria" pitchFamily="34" charset="-122"/>
                <a:cs typeface="Cambria" pitchFamily="34" charset="-120"/>
              </a:rPr>
              <a:t>6,497</a:t>
            </a:r>
            <a:endParaRPr lang="en-US" sz="3000" dirty="0"/>
          </a:p>
        </p:txBody>
      </p:sp>
      <p:sp>
        <p:nvSpPr>
          <p:cNvPr id="26" name="Text 24"/>
          <p:cNvSpPr txBox="1"/>
          <p:nvPr/>
        </p:nvSpPr>
        <p:spPr>
          <a:xfrm>
            <a:off x="9509760" y="5166360"/>
            <a:ext cx="1828800" cy="548640"/>
          </a:xfrm>
          <a:prstGeom prst="rect">
            <a:avLst/>
          </a:prstGeom>
          <a:noFill/>
          <a:ln/>
        </p:spPr>
        <p:txBody>
          <a:bodyPr wrap="square" lIns="0" tIns="0" rIns="0" bIns="0" rtlCol="0" anchor="ctr"/>
          <a:lstStyle/>
          <a:p>
            <a:pPr marL="0" indent="0">
              <a:buNone/>
            </a:pPr>
            <a:r>
              <a:rPr lang="en-US" sz="3000" b="1" dirty="0">
                <a:solidFill>
                  <a:srgbClr val="E63946"/>
                </a:solidFill>
                <a:latin typeface="Cambria" pitchFamily="34" charset="0"/>
                <a:ea typeface="Cambria" pitchFamily="34" charset="-122"/>
                <a:cs typeface="Cambria" pitchFamily="34" charset="-120"/>
              </a:rPr>
              <a:t>13</a:t>
            </a:r>
            <a:endParaRPr lang="en-US" sz="3000" dirty="0"/>
          </a:p>
        </p:txBody>
      </p:sp>
      <p:sp>
        <p:nvSpPr>
          <p:cNvPr id="27" name="Text 25"/>
          <p:cNvSpPr txBox="1"/>
          <p:nvPr/>
        </p:nvSpPr>
        <p:spPr>
          <a:xfrm>
            <a:off x="7452360" y="5742432"/>
            <a:ext cx="1828800" cy="274320"/>
          </a:xfrm>
          <a:prstGeom prst="rect">
            <a:avLst/>
          </a:prstGeom>
          <a:noFill/>
          <a:ln/>
        </p:spPr>
        <p:txBody>
          <a:bodyPr wrap="square" lIns="0" tIns="0" rIns="0" bIns="0" rtlCol="0" anchor="ctr"/>
          <a:lstStyle/>
          <a:p>
            <a:pPr marL="0" indent="0">
              <a:buNone/>
            </a:pPr>
            <a:r>
              <a:rPr lang="en-US" sz="1100" dirty="0">
                <a:solidFill>
                  <a:srgbClr val="AFC6E9"/>
                </a:solidFill>
                <a:latin typeface="Calibri" pitchFamily="34" charset="0"/>
                <a:ea typeface="Calibri" pitchFamily="34" charset="-122"/>
                <a:cs typeface="Calibri" pitchFamily="34" charset="-120"/>
              </a:rPr>
              <a:t>Rows</a:t>
            </a:r>
            <a:endParaRPr lang="en-US" sz="1100" dirty="0"/>
          </a:p>
        </p:txBody>
      </p:sp>
      <p:sp>
        <p:nvSpPr>
          <p:cNvPr id="28" name="Text 26"/>
          <p:cNvSpPr txBox="1"/>
          <p:nvPr/>
        </p:nvSpPr>
        <p:spPr>
          <a:xfrm>
            <a:off x="9509760" y="5742432"/>
            <a:ext cx="1828800" cy="274320"/>
          </a:xfrm>
          <a:prstGeom prst="rect">
            <a:avLst/>
          </a:prstGeom>
          <a:noFill/>
          <a:ln/>
        </p:spPr>
        <p:txBody>
          <a:bodyPr wrap="square" lIns="0" tIns="0" rIns="0" bIns="0" rtlCol="0" anchor="ctr"/>
          <a:lstStyle/>
          <a:p>
            <a:pPr marL="0" indent="0">
              <a:buNone/>
            </a:pPr>
            <a:r>
              <a:rPr lang="en-US" sz="1100" dirty="0">
                <a:solidFill>
                  <a:srgbClr val="AFC6E9"/>
                </a:solidFill>
                <a:latin typeface="Calibri" pitchFamily="34" charset="0"/>
                <a:ea typeface="Calibri" pitchFamily="34" charset="-122"/>
                <a:cs typeface="Calibri" pitchFamily="34" charset="-120"/>
              </a:rPr>
              <a:t>Columns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050" b="1" kern="0" spc="200" dirty="0">
                <a:solidFill>
                  <a:srgbClr val="E63946"/>
                </a:solidFill>
                <a:latin typeface="Calibri" pitchFamily="34" charset="0"/>
                <a:ea typeface="Calibri" pitchFamily="34" charset="-122"/>
                <a:cs typeface="Calibri" pitchFamily="34" charset="-120"/>
              </a:rPr>
              <a:t>DATA UNDERSTANDING</a:t>
            </a:r>
            <a:endParaRPr lang="en-US" sz="1050" dirty="0"/>
          </a:p>
        </p:txBody>
      </p:sp>
      <p:sp>
        <p:nvSpPr>
          <p:cNvPr id="3" name="Text 1"/>
          <p:cNvSpPr txBox="1"/>
          <p:nvPr/>
        </p:nvSpPr>
        <p:spPr>
          <a:xfrm>
            <a:off x="640080" y="713232"/>
            <a:ext cx="1051560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Getting to Know the Dataset</a:t>
            </a:r>
            <a:endParaRPr lang="en-US" sz="2800" dirty="0"/>
          </a:p>
        </p:txBody>
      </p:sp>
      <p:sp>
        <p:nvSpPr>
          <p:cNvPr id="4" name="Shape 2"/>
          <p:cNvSpPr/>
          <p:nvPr/>
        </p:nvSpPr>
        <p:spPr>
          <a:xfrm>
            <a:off x="640080" y="1554480"/>
            <a:ext cx="3456432" cy="1188720"/>
          </a:xfrm>
          <a:prstGeom prst="roundRect">
            <a:avLst>
              <a:gd name="adj" fmla="val 4615"/>
            </a:avLst>
          </a:prstGeom>
          <a:solidFill>
            <a:srgbClr val="FFFFFF"/>
          </a:solidFill>
          <a:ln w="12700">
            <a:solidFill>
              <a:srgbClr val="DDE3ED"/>
            </a:solidFill>
            <a:prstDash val="solid"/>
          </a:ln>
        </p:spPr>
      </p:sp>
      <p:sp>
        <p:nvSpPr>
          <p:cNvPr id="5" name="Text 3"/>
          <p:cNvSpPr txBox="1"/>
          <p:nvPr/>
        </p:nvSpPr>
        <p:spPr>
          <a:xfrm>
            <a:off x="914400" y="1737360"/>
            <a:ext cx="2999232" cy="548640"/>
          </a:xfrm>
          <a:prstGeom prst="rect">
            <a:avLst/>
          </a:prstGeom>
          <a:noFill/>
          <a:ln/>
        </p:spPr>
        <p:txBody>
          <a:bodyPr wrap="square" lIns="0" tIns="0" rIns="0" bIns="0" rtlCol="0" anchor="ctr"/>
          <a:lstStyle/>
          <a:p>
            <a:pPr marL="0" indent="0">
              <a:buNone/>
            </a:pPr>
            <a:r>
              <a:rPr lang="en-US" sz="2800" b="1" dirty="0">
                <a:solidFill>
                  <a:srgbClr val="2E5A9C"/>
                </a:solidFill>
                <a:latin typeface="Cambria" pitchFamily="34" charset="0"/>
                <a:ea typeface="Cambria" pitchFamily="34" charset="-122"/>
                <a:cs typeface="Cambria" pitchFamily="34" charset="-120"/>
              </a:rPr>
              <a:t>6,497</a:t>
            </a:r>
            <a:endParaRPr lang="en-US" sz="2800" dirty="0"/>
          </a:p>
        </p:txBody>
      </p:sp>
      <p:sp>
        <p:nvSpPr>
          <p:cNvPr id="6" name="Text 4"/>
          <p:cNvSpPr txBox="1"/>
          <p:nvPr/>
        </p:nvSpPr>
        <p:spPr>
          <a:xfrm>
            <a:off x="914400" y="2331720"/>
            <a:ext cx="2999232" cy="27432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Records</a:t>
            </a:r>
            <a:endParaRPr lang="en-US" sz="1150" dirty="0"/>
          </a:p>
        </p:txBody>
      </p:sp>
      <p:sp>
        <p:nvSpPr>
          <p:cNvPr id="7" name="Shape 5"/>
          <p:cNvSpPr/>
          <p:nvPr/>
        </p:nvSpPr>
        <p:spPr>
          <a:xfrm>
            <a:off x="4366260" y="1554480"/>
            <a:ext cx="3456432" cy="1188720"/>
          </a:xfrm>
          <a:prstGeom prst="roundRect">
            <a:avLst>
              <a:gd name="adj" fmla="val 4615"/>
            </a:avLst>
          </a:prstGeom>
          <a:solidFill>
            <a:srgbClr val="FFFFFF"/>
          </a:solidFill>
          <a:ln w="12700">
            <a:solidFill>
              <a:srgbClr val="DDE3ED"/>
            </a:solidFill>
            <a:prstDash val="solid"/>
          </a:ln>
        </p:spPr>
      </p:sp>
      <p:sp>
        <p:nvSpPr>
          <p:cNvPr id="8" name="Text 6"/>
          <p:cNvSpPr txBox="1"/>
          <p:nvPr/>
        </p:nvSpPr>
        <p:spPr>
          <a:xfrm>
            <a:off x="4640580" y="1737360"/>
            <a:ext cx="2999232" cy="548640"/>
          </a:xfrm>
          <a:prstGeom prst="rect">
            <a:avLst/>
          </a:prstGeom>
          <a:noFill/>
          <a:ln/>
        </p:spPr>
        <p:txBody>
          <a:bodyPr wrap="square" lIns="0" tIns="0" rIns="0" bIns="0" rtlCol="0" anchor="ctr"/>
          <a:lstStyle/>
          <a:p>
            <a:pPr marL="0" indent="0">
              <a:buNone/>
            </a:pPr>
            <a:r>
              <a:rPr lang="en-US" sz="2800" b="1" dirty="0">
                <a:solidFill>
                  <a:srgbClr val="2E5A9C"/>
                </a:solidFill>
                <a:latin typeface="Cambria" pitchFamily="34" charset="0"/>
                <a:ea typeface="Cambria" pitchFamily="34" charset="-122"/>
                <a:cs typeface="Cambria" pitchFamily="34" charset="-120"/>
              </a:rPr>
              <a:t>11</a:t>
            </a:r>
            <a:endParaRPr lang="en-US" sz="2800" dirty="0"/>
          </a:p>
        </p:txBody>
      </p:sp>
      <p:sp>
        <p:nvSpPr>
          <p:cNvPr id="9" name="Text 7"/>
          <p:cNvSpPr txBox="1"/>
          <p:nvPr/>
        </p:nvSpPr>
        <p:spPr>
          <a:xfrm>
            <a:off x="4640580" y="2331720"/>
            <a:ext cx="2999232" cy="27432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Features (+ quality, type)</a:t>
            </a:r>
            <a:endParaRPr lang="en-US" sz="1150" dirty="0"/>
          </a:p>
        </p:txBody>
      </p:sp>
      <p:sp>
        <p:nvSpPr>
          <p:cNvPr id="10" name="Shape 8"/>
          <p:cNvSpPr/>
          <p:nvPr/>
        </p:nvSpPr>
        <p:spPr>
          <a:xfrm>
            <a:off x="8092440" y="1554480"/>
            <a:ext cx="3456432" cy="1188720"/>
          </a:xfrm>
          <a:prstGeom prst="roundRect">
            <a:avLst>
              <a:gd name="adj" fmla="val 4615"/>
            </a:avLst>
          </a:prstGeom>
          <a:solidFill>
            <a:srgbClr val="FFFFFF"/>
          </a:solidFill>
          <a:ln w="12700">
            <a:solidFill>
              <a:srgbClr val="DDE3ED"/>
            </a:solidFill>
            <a:prstDash val="solid"/>
          </a:ln>
        </p:spPr>
      </p:sp>
      <p:sp>
        <p:nvSpPr>
          <p:cNvPr id="11" name="Text 9"/>
          <p:cNvSpPr txBox="1"/>
          <p:nvPr/>
        </p:nvSpPr>
        <p:spPr>
          <a:xfrm>
            <a:off x="8366760" y="1737360"/>
            <a:ext cx="2999232" cy="548640"/>
          </a:xfrm>
          <a:prstGeom prst="rect">
            <a:avLst/>
          </a:prstGeom>
          <a:noFill/>
          <a:ln/>
        </p:spPr>
        <p:txBody>
          <a:bodyPr wrap="square" lIns="0" tIns="0" rIns="0" bIns="0" rtlCol="0" anchor="ctr"/>
          <a:lstStyle/>
          <a:p>
            <a:pPr marL="0" indent="0">
              <a:buNone/>
            </a:pPr>
            <a:r>
              <a:rPr lang="en-US" sz="2800" b="1" dirty="0">
                <a:solidFill>
                  <a:srgbClr val="2E5A9C"/>
                </a:solidFill>
                <a:latin typeface="Cambria" pitchFamily="34" charset="0"/>
                <a:ea typeface="Cambria" pitchFamily="34" charset="-122"/>
                <a:cs typeface="Cambria" pitchFamily="34" charset="-120"/>
              </a:rPr>
              <a:t>Numeric</a:t>
            </a:r>
            <a:endParaRPr lang="en-US" sz="2800" dirty="0"/>
          </a:p>
        </p:txBody>
      </p:sp>
      <p:sp>
        <p:nvSpPr>
          <p:cNvPr id="12" name="Text 10"/>
          <p:cNvSpPr txBox="1"/>
          <p:nvPr/>
        </p:nvSpPr>
        <p:spPr>
          <a:xfrm>
            <a:off x="8366760" y="2331720"/>
            <a:ext cx="2999232" cy="27432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Data Types (11 float, 1 int, 1 text)</a:t>
            </a:r>
            <a:endParaRPr lang="en-US" sz="1150" dirty="0"/>
          </a:p>
        </p:txBody>
      </p:sp>
      <p:sp>
        <p:nvSpPr>
          <p:cNvPr id="13" name="Shape 11"/>
          <p:cNvSpPr/>
          <p:nvPr/>
        </p:nvSpPr>
        <p:spPr>
          <a:xfrm>
            <a:off x="640080" y="2926080"/>
            <a:ext cx="3456432" cy="1188720"/>
          </a:xfrm>
          <a:prstGeom prst="roundRect">
            <a:avLst>
              <a:gd name="adj" fmla="val 4615"/>
            </a:avLst>
          </a:prstGeom>
          <a:solidFill>
            <a:srgbClr val="FFFFFF"/>
          </a:solidFill>
          <a:ln w="12700">
            <a:solidFill>
              <a:srgbClr val="DDE3ED"/>
            </a:solidFill>
            <a:prstDash val="solid"/>
          </a:ln>
        </p:spPr>
      </p:sp>
      <p:sp>
        <p:nvSpPr>
          <p:cNvPr id="14" name="Text 12"/>
          <p:cNvSpPr txBox="1"/>
          <p:nvPr/>
        </p:nvSpPr>
        <p:spPr>
          <a:xfrm>
            <a:off x="914400" y="3108960"/>
            <a:ext cx="2999232" cy="548640"/>
          </a:xfrm>
          <a:prstGeom prst="rect">
            <a:avLst/>
          </a:prstGeom>
          <a:noFill/>
          <a:ln/>
        </p:spPr>
        <p:txBody>
          <a:bodyPr wrap="square" lIns="0" tIns="0" rIns="0" bIns="0" rtlCol="0" anchor="ctr"/>
          <a:lstStyle/>
          <a:p>
            <a:pPr marL="0" indent="0">
              <a:buNone/>
            </a:pPr>
            <a:r>
              <a:rPr lang="en-US" sz="2800" b="1" dirty="0">
                <a:solidFill>
                  <a:srgbClr val="2E5A9C"/>
                </a:solidFill>
                <a:latin typeface="Cambria" pitchFamily="34" charset="0"/>
                <a:ea typeface="Cambria" pitchFamily="34" charset="-122"/>
                <a:cs typeface="Cambria" pitchFamily="34" charset="-120"/>
              </a:rPr>
              <a:t>0</a:t>
            </a:r>
            <a:endParaRPr lang="en-US" sz="2800" dirty="0"/>
          </a:p>
        </p:txBody>
      </p:sp>
      <p:sp>
        <p:nvSpPr>
          <p:cNvPr id="15" name="Text 13"/>
          <p:cNvSpPr txBox="1"/>
          <p:nvPr/>
        </p:nvSpPr>
        <p:spPr>
          <a:xfrm>
            <a:off x="914400" y="3703320"/>
            <a:ext cx="2999232" cy="27432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Missing Values</a:t>
            </a:r>
            <a:endParaRPr lang="en-US" sz="1150" dirty="0"/>
          </a:p>
        </p:txBody>
      </p:sp>
      <p:sp>
        <p:nvSpPr>
          <p:cNvPr id="16" name="Shape 14"/>
          <p:cNvSpPr/>
          <p:nvPr/>
        </p:nvSpPr>
        <p:spPr>
          <a:xfrm>
            <a:off x="4366260" y="2926080"/>
            <a:ext cx="3456432" cy="1188720"/>
          </a:xfrm>
          <a:prstGeom prst="roundRect">
            <a:avLst>
              <a:gd name="adj" fmla="val 4615"/>
            </a:avLst>
          </a:prstGeom>
          <a:solidFill>
            <a:srgbClr val="FFFFFF"/>
          </a:solidFill>
          <a:ln w="12700">
            <a:solidFill>
              <a:srgbClr val="DDE3ED"/>
            </a:solidFill>
            <a:prstDash val="solid"/>
          </a:ln>
        </p:spPr>
      </p:sp>
      <p:sp>
        <p:nvSpPr>
          <p:cNvPr id="17" name="Text 15"/>
          <p:cNvSpPr txBox="1"/>
          <p:nvPr/>
        </p:nvSpPr>
        <p:spPr>
          <a:xfrm>
            <a:off x="4640580" y="3108960"/>
            <a:ext cx="2999232" cy="548640"/>
          </a:xfrm>
          <a:prstGeom prst="rect">
            <a:avLst/>
          </a:prstGeom>
          <a:noFill/>
          <a:ln/>
        </p:spPr>
        <p:txBody>
          <a:bodyPr wrap="square" lIns="0" tIns="0" rIns="0" bIns="0" rtlCol="0" anchor="ctr"/>
          <a:lstStyle/>
          <a:p>
            <a:pPr marL="0" indent="0">
              <a:buNone/>
            </a:pPr>
            <a:r>
              <a:rPr lang="en-US" sz="2800" b="1" dirty="0">
                <a:solidFill>
                  <a:srgbClr val="2E5A9C"/>
                </a:solidFill>
                <a:latin typeface="Cambria" pitchFamily="34" charset="0"/>
                <a:ea typeface="Cambria" pitchFamily="34" charset="-122"/>
                <a:cs typeface="Cambria" pitchFamily="34" charset="-120"/>
              </a:rPr>
              <a:t>1,177</a:t>
            </a:r>
            <a:endParaRPr lang="en-US" sz="2800" dirty="0"/>
          </a:p>
        </p:txBody>
      </p:sp>
      <p:sp>
        <p:nvSpPr>
          <p:cNvPr id="18" name="Text 16"/>
          <p:cNvSpPr txBox="1"/>
          <p:nvPr/>
        </p:nvSpPr>
        <p:spPr>
          <a:xfrm>
            <a:off x="4640580" y="3703320"/>
            <a:ext cx="2999232" cy="27432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Duplicate Rows</a:t>
            </a:r>
            <a:endParaRPr lang="en-US" sz="1150" dirty="0"/>
          </a:p>
        </p:txBody>
      </p:sp>
      <p:sp>
        <p:nvSpPr>
          <p:cNvPr id="19" name="Shape 17"/>
          <p:cNvSpPr/>
          <p:nvPr/>
        </p:nvSpPr>
        <p:spPr>
          <a:xfrm>
            <a:off x="8092440" y="2926080"/>
            <a:ext cx="3456432" cy="1188720"/>
          </a:xfrm>
          <a:prstGeom prst="roundRect">
            <a:avLst>
              <a:gd name="adj" fmla="val 4615"/>
            </a:avLst>
          </a:prstGeom>
          <a:solidFill>
            <a:srgbClr val="FFFFFF"/>
          </a:solidFill>
          <a:ln w="12700">
            <a:solidFill>
              <a:srgbClr val="DDE3ED"/>
            </a:solidFill>
            <a:prstDash val="solid"/>
          </a:ln>
        </p:spPr>
      </p:sp>
      <p:sp>
        <p:nvSpPr>
          <p:cNvPr id="20" name="Text 18"/>
          <p:cNvSpPr txBox="1"/>
          <p:nvPr/>
        </p:nvSpPr>
        <p:spPr>
          <a:xfrm>
            <a:off x="8366760" y="3108960"/>
            <a:ext cx="2999232" cy="548640"/>
          </a:xfrm>
          <a:prstGeom prst="rect">
            <a:avLst/>
          </a:prstGeom>
          <a:noFill/>
          <a:ln/>
        </p:spPr>
        <p:txBody>
          <a:bodyPr wrap="square" lIns="0" tIns="0" rIns="0" bIns="0" rtlCol="0" anchor="ctr"/>
          <a:lstStyle/>
          <a:p>
            <a:pPr marL="0" indent="0">
              <a:buNone/>
            </a:pPr>
            <a:r>
              <a:rPr lang="en-US" sz="2800" b="1" dirty="0">
                <a:solidFill>
                  <a:srgbClr val="2E5A9C"/>
                </a:solidFill>
                <a:latin typeface="Cambria" pitchFamily="34" charset="0"/>
                <a:ea typeface="Cambria" pitchFamily="34" charset="-122"/>
                <a:cs typeface="Cambria" pitchFamily="34" charset="-120"/>
              </a:rPr>
              <a:t>2</a:t>
            </a:r>
            <a:endParaRPr lang="en-US" sz="2800" dirty="0"/>
          </a:p>
        </p:txBody>
      </p:sp>
      <p:sp>
        <p:nvSpPr>
          <p:cNvPr id="21" name="Text 19"/>
          <p:cNvSpPr txBox="1"/>
          <p:nvPr/>
        </p:nvSpPr>
        <p:spPr>
          <a:xfrm>
            <a:off x="8366760" y="3703320"/>
            <a:ext cx="2999232" cy="274320"/>
          </a:xfrm>
          <a:prstGeom prst="rect">
            <a:avLst/>
          </a:prstGeom>
          <a:noFill/>
          <a:ln/>
        </p:spPr>
        <p:txBody>
          <a:bodyPr wrap="square" lIns="0" tIns="0" rIns="0" bIns="0" rtlCol="0" anchor="ctr"/>
          <a:lstStyle/>
          <a:p>
            <a:pPr marL="0" indent="0">
              <a:buNone/>
            </a:pPr>
            <a:r>
              <a:rPr lang="en-US" sz="1150" dirty="0">
                <a:solidFill>
                  <a:srgbClr val="6B7688"/>
                </a:solidFill>
                <a:latin typeface="Calibri" pitchFamily="34" charset="0"/>
                <a:ea typeface="Calibri" pitchFamily="34" charset="-122"/>
                <a:cs typeface="Calibri" pitchFamily="34" charset="-120"/>
              </a:rPr>
              <a:t>Unique Classes (red, white)</a:t>
            </a:r>
            <a:endParaRPr lang="en-US" sz="1150" dirty="0"/>
          </a:p>
        </p:txBody>
      </p:sp>
      <p:sp>
        <p:nvSpPr>
          <p:cNvPr id="22" name="Shape 20"/>
          <p:cNvSpPr/>
          <p:nvPr/>
        </p:nvSpPr>
        <p:spPr>
          <a:xfrm>
            <a:off x="640080" y="4434840"/>
            <a:ext cx="10908792" cy="1783080"/>
          </a:xfrm>
          <a:prstGeom prst="roundRect">
            <a:avLst>
              <a:gd name="adj" fmla="val 3077"/>
            </a:avLst>
          </a:prstGeom>
          <a:solidFill>
            <a:srgbClr val="0B1B33"/>
          </a:solidFill>
          <a:ln w="12700">
            <a:solidFill>
              <a:srgbClr val="0B1B33"/>
            </a:solidFill>
            <a:prstDash val="solid"/>
          </a:ln>
        </p:spPr>
      </p:sp>
      <p:sp>
        <p:nvSpPr>
          <p:cNvPr id="23" name="Text 21"/>
          <p:cNvSpPr txBox="1"/>
          <p:nvPr/>
        </p:nvSpPr>
        <p:spPr>
          <a:xfrm>
            <a:off x="914400" y="4754880"/>
            <a:ext cx="3108960" cy="10972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Statistical Summary &amp; Distributions</a:t>
            </a:r>
            <a:endParaRPr lang="en-US" sz="1400" dirty="0"/>
          </a:p>
        </p:txBody>
      </p:sp>
      <p:sp>
        <p:nvSpPr>
          <p:cNvPr id="24" name="Text 22"/>
          <p:cNvSpPr txBox="1"/>
          <p:nvPr/>
        </p:nvSpPr>
        <p:spPr>
          <a:xfrm>
            <a:off x="4206240" y="4663440"/>
            <a:ext cx="7132320" cy="1417320"/>
          </a:xfrm>
          <a:prstGeom prst="rect">
            <a:avLst/>
          </a:prstGeom>
          <a:noFill/>
          <a:ln/>
        </p:spPr>
        <p:txBody>
          <a:bodyPr wrap="square" lIns="0" tIns="0" rIns="0" bIns="0" rtlCol="0" anchor="ctr"/>
          <a:lstStyle/>
          <a:p>
            <a:pPr marL="0" indent="0">
              <a:buNone/>
            </a:pPr>
            <a:r>
              <a:rPr lang="en-US" sz="1250" dirty="0">
                <a:solidFill>
                  <a:srgbClr val="AFC6E9"/>
                </a:solidFill>
                <a:latin typeface="Calibri" pitchFamily="34" charset="0"/>
                <a:ea typeface="Calibri" pitchFamily="34" charset="-122"/>
                <a:cs typeface="Calibri" pitchFamily="34" charset="-120"/>
              </a:rPr>
              <a:t>df.describe() shows total SO₂ ranging from 6 to 440 mg/dm³ (mean ≈ 116), residual sugar from 0.6 to 65.8 g/dm³ (right-skewed, mean ≈ 5.4), alcohol from 8 to 14.9 % (mean ≈ 10.5) and pH from 2.72 to 4.01. Feature distributions by wine type are explored in the EDA section.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050" b="1" kern="0" spc="200" dirty="0">
                <a:solidFill>
                  <a:srgbClr val="E63946"/>
                </a:solidFill>
                <a:latin typeface="Calibri" pitchFamily="34" charset="0"/>
                <a:ea typeface="Calibri" pitchFamily="34" charset="-122"/>
                <a:cs typeface="Calibri" pitchFamily="34" charset="-120"/>
              </a:rPr>
              <a:t>DATA PREPROCESSING</a:t>
            </a:r>
            <a:endParaRPr lang="en-US" sz="1050" dirty="0"/>
          </a:p>
        </p:txBody>
      </p:sp>
      <p:sp>
        <p:nvSpPr>
          <p:cNvPr id="3" name="Text 1"/>
          <p:cNvSpPr txBox="1"/>
          <p:nvPr/>
        </p:nvSpPr>
        <p:spPr>
          <a:xfrm>
            <a:off x="640080" y="713232"/>
            <a:ext cx="1051560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Cleaning and Preparing the Data</a:t>
            </a:r>
            <a:endParaRPr lang="en-US" sz="2800" dirty="0"/>
          </a:p>
        </p:txBody>
      </p:sp>
      <p:sp>
        <p:nvSpPr>
          <p:cNvPr id="4" name="Shape 2"/>
          <p:cNvSpPr/>
          <p:nvPr/>
        </p:nvSpPr>
        <p:spPr>
          <a:xfrm>
            <a:off x="603504" y="1819656"/>
            <a:ext cx="5285232" cy="1234440"/>
          </a:xfrm>
          <a:prstGeom prst="roundRect">
            <a:avLst>
              <a:gd name="adj" fmla="val 4444"/>
            </a:avLst>
          </a:prstGeom>
          <a:solidFill>
            <a:srgbClr val="FFFFFF"/>
          </a:solidFill>
          <a:ln w="12700">
            <a:solidFill>
              <a:srgbClr val="DDE3ED"/>
            </a:solidFill>
            <a:prstDash val="solid"/>
          </a:ln>
        </p:spPr>
      </p:sp>
      <p:sp>
        <p:nvSpPr>
          <p:cNvPr id="5" name="Shape 3"/>
          <p:cNvSpPr/>
          <p:nvPr/>
        </p:nvSpPr>
        <p:spPr>
          <a:xfrm>
            <a:off x="877824" y="2020824"/>
            <a:ext cx="457200" cy="457200"/>
          </a:xfrm>
          <a:prstGeom prst="ellipse">
            <a:avLst/>
          </a:prstGeom>
          <a:solidFill>
            <a:srgbClr val="0B1B33"/>
          </a:solidFill>
          <a:ln w="12700">
            <a:solidFill>
              <a:srgbClr val="0B1B33"/>
            </a:solidFill>
            <a:prstDash val="solid"/>
          </a:ln>
        </p:spPr>
      </p:sp>
      <p:sp>
        <p:nvSpPr>
          <p:cNvPr id="6" name="Text 4"/>
          <p:cNvSpPr txBox="1"/>
          <p:nvPr/>
        </p:nvSpPr>
        <p:spPr>
          <a:xfrm>
            <a:off x="877824" y="20208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txBox="1"/>
          <p:nvPr/>
        </p:nvSpPr>
        <p:spPr>
          <a:xfrm>
            <a:off x="1517904" y="2002536"/>
            <a:ext cx="4142232" cy="32004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Missing Values</a:t>
            </a:r>
            <a:endParaRPr lang="en-US" sz="1450" dirty="0"/>
          </a:p>
        </p:txBody>
      </p:sp>
      <p:sp>
        <p:nvSpPr>
          <p:cNvPr id="8" name="Text 6"/>
          <p:cNvSpPr txBox="1"/>
          <p:nvPr/>
        </p:nvSpPr>
        <p:spPr>
          <a:xfrm>
            <a:off x="1517904" y="2386584"/>
            <a:ext cx="4142232" cy="594360"/>
          </a:xfrm>
          <a:prstGeom prst="rect">
            <a:avLst/>
          </a:prstGeom>
          <a:noFill/>
          <a:ln/>
        </p:spPr>
        <p:txBody>
          <a:bodyPr wrap="square" lIns="0" tIns="0" rIns="0" bIns="0" rtlCol="0" anchor="t"/>
          <a:lstStyle/>
          <a:p>
            <a:pPr marL="0" indent="0">
              <a:lnSpc>
                <a:spcPts val="2000"/>
              </a:lnSpc>
              <a:buNone/>
            </a:pPr>
            <a:r>
              <a:rPr lang="en-US" sz="1200" dirty="0">
                <a:solidFill>
                  <a:srgbClr val="6B7688"/>
                </a:solidFill>
                <a:latin typeface="Calibri" pitchFamily="34" charset="0"/>
                <a:ea typeface="Calibri" pitchFamily="34" charset="-122"/>
                <a:cs typeface="Calibri" pitchFamily="34" charset="-120"/>
              </a:rPr>
              <a:t>Checked with df.isnull().sum() — none found, so no imputation was required.</a:t>
            </a:r>
            <a:endParaRPr lang="en-US" sz="1200" dirty="0"/>
          </a:p>
        </p:txBody>
      </p:sp>
      <p:sp>
        <p:nvSpPr>
          <p:cNvPr id="9" name="Shape 7"/>
          <p:cNvSpPr/>
          <p:nvPr/>
        </p:nvSpPr>
        <p:spPr>
          <a:xfrm>
            <a:off x="6153912" y="1819656"/>
            <a:ext cx="5285232" cy="1234440"/>
          </a:xfrm>
          <a:prstGeom prst="roundRect">
            <a:avLst>
              <a:gd name="adj" fmla="val 4444"/>
            </a:avLst>
          </a:prstGeom>
          <a:solidFill>
            <a:srgbClr val="FFFFFF"/>
          </a:solidFill>
          <a:ln w="12700">
            <a:solidFill>
              <a:srgbClr val="DDE3ED"/>
            </a:solidFill>
            <a:prstDash val="solid"/>
          </a:ln>
        </p:spPr>
      </p:sp>
      <p:sp>
        <p:nvSpPr>
          <p:cNvPr id="10" name="Shape 8"/>
          <p:cNvSpPr/>
          <p:nvPr/>
        </p:nvSpPr>
        <p:spPr>
          <a:xfrm>
            <a:off x="6428232" y="2020824"/>
            <a:ext cx="457200" cy="457200"/>
          </a:xfrm>
          <a:prstGeom prst="ellipse">
            <a:avLst/>
          </a:prstGeom>
          <a:solidFill>
            <a:srgbClr val="0B1B33"/>
          </a:solidFill>
          <a:ln w="12700">
            <a:solidFill>
              <a:srgbClr val="0B1B33"/>
            </a:solidFill>
            <a:prstDash val="solid"/>
          </a:ln>
        </p:spPr>
      </p:sp>
      <p:sp>
        <p:nvSpPr>
          <p:cNvPr id="11" name="Text 9"/>
          <p:cNvSpPr txBox="1"/>
          <p:nvPr/>
        </p:nvSpPr>
        <p:spPr>
          <a:xfrm>
            <a:off x="6428232" y="20208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7068312" y="2002536"/>
            <a:ext cx="4142232" cy="32004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Duplicate Records</a:t>
            </a:r>
            <a:endParaRPr lang="en-US" sz="1450" dirty="0"/>
          </a:p>
        </p:txBody>
      </p:sp>
      <p:sp>
        <p:nvSpPr>
          <p:cNvPr id="13" name="Text 11"/>
          <p:cNvSpPr txBox="1"/>
          <p:nvPr/>
        </p:nvSpPr>
        <p:spPr>
          <a:xfrm>
            <a:off x="7068312" y="2386584"/>
            <a:ext cx="4142232" cy="594360"/>
          </a:xfrm>
          <a:prstGeom prst="rect">
            <a:avLst/>
          </a:prstGeom>
          <a:noFill/>
          <a:ln/>
        </p:spPr>
        <p:txBody>
          <a:bodyPr wrap="square" lIns="0" tIns="0" rIns="0" bIns="0" rtlCol="0" anchor="t"/>
          <a:lstStyle/>
          <a:p>
            <a:pPr marL="0" indent="0">
              <a:lnSpc>
                <a:spcPts val="2000"/>
              </a:lnSpc>
              <a:buNone/>
            </a:pPr>
            <a:r>
              <a:rPr lang="en-US" sz="1200" dirty="0">
                <a:solidFill>
                  <a:srgbClr val="6B7688"/>
                </a:solidFill>
                <a:latin typeface="Calibri" pitchFamily="34" charset="0"/>
                <a:ea typeface="Calibri" pitchFamily="34" charset="-122"/>
                <a:cs typeface="Calibri" pitchFamily="34" charset="-120"/>
              </a:rPr>
              <a:t>1,177 duplicate rows removed with drop_duplicates(), leaving 5,320 unique wines and preventing train/test leakage.</a:t>
            </a:r>
            <a:endParaRPr lang="en-US" sz="1200" dirty="0"/>
          </a:p>
        </p:txBody>
      </p:sp>
      <p:sp>
        <p:nvSpPr>
          <p:cNvPr id="14" name="Shape 12"/>
          <p:cNvSpPr/>
          <p:nvPr/>
        </p:nvSpPr>
        <p:spPr>
          <a:xfrm>
            <a:off x="603504" y="3218688"/>
            <a:ext cx="5285232" cy="1234440"/>
          </a:xfrm>
          <a:prstGeom prst="roundRect">
            <a:avLst>
              <a:gd name="adj" fmla="val 4444"/>
            </a:avLst>
          </a:prstGeom>
          <a:solidFill>
            <a:srgbClr val="FFFFFF"/>
          </a:solidFill>
          <a:ln w="12700">
            <a:solidFill>
              <a:srgbClr val="DDE3ED"/>
            </a:solidFill>
            <a:prstDash val="solid"/>
          </a:ln>
        </p:spPr>
      </p:sp>
      <p:sp>
        <p:nvSpPr>
          <p:cNvPr id="15" name="Shape 13"/>
          <p:cNvSpPr/>
          <p:nvPr/>
        </p:nvSpPr>
        <p:spPr>
          <a:xfrm>
            <a:off x="877824" y="3419856"/>
            <a:ext cx="457200" cy="457200"/>
          </a:xfrm>
          <a:prstGeom prst="ellipse">
            <a:avLst/>
          </a:prstGeom>
          <a:solidFill>
            <a:srgbClr val="0B1B33"/>
          </a:solidFill>
          <a:ln w="12700">
            <a:solidFill>
              <a:srgbClr val="0B1B33"/>
            </a:solidFill>
            <a:prstDash val="solid"/>
          </a:ln>
        </p:spPr>
      </p:sp>
      <p:sp>
        <p:nvSpPr>
          <p:cNvPr id="16" name="Text 14"/>
          <p:cNvSpPr txBox="1"/>
          <p:nvPr/>
        </p:nvSpPr>
        <p:spPr>
          <a:xfrm>
            <a:off x="877824" y="341985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517904" y="3401568"/>
            <a:ext cx="4142232" cy="32004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Outliers</a:t>
            </a:r>
            <a:endParaRPr lang="en-US" sz="1450" dirty="0"/>
          </a:p>
        </p:txBody>
      </p:sp>
      <p:sp>
        <p:nvSpPr>
          <p:cNvPr id="18" name="Text 16"/>
          <p:cNvSpPr txBox="1"/>
          <p:nvPr/>
        </p:nvSpPr>
        <p:spPr>
          <a:xfrm>
            <a:off x="1517904" y="3785616"/>
            <a:ext cx="4142232" cy="594360"/>
          </a:xfrm>
          <a:prstGeom prst="rect">
            <a:avLst/>
          </a:prstGeom>
          <a:noFill/>
          <a:ln/>
        </p:spPr>
        <p:txBody>
          <a:bodyPr wrap="square" lIns="0" tIns="0" rIns="0" bIns="0" rtlCol="0" anchor="t"/>
          <a:lstStyle/>
          <a:p>
            <a:pPr marL="0" indent="0">
              <a:lnSpc>
                <a:spcPts val="2000"/>
              </a:lnSpc>
              <a:buNone/>
            </a:pPr>
            <a:r>
              <a:rPr lang="en-US" sz="1200" dirty="0">
                <a:solidFill>
                  <a:srgbClr val="6B7688"/>
                </a:solidFill>
                <a:latin typeface="Calibri" pitchFamily="34" charset="0"/>
                <a:ea typeface="Calibri" pitchFamily="34" charset="-122"/>
                <a:cs typeface="Calibri" pitchFamily="34" charset="-120"/>
              </a:rPr>
              <a:t>Reviewed with the IQR rule and box plots (about 3–6% in acidity, chlorides, sulphates); retained as genuine measurements.</a:t>
            </a:r>
            <a:endParaRPr lang="en-US" sz="1200" dirty="0"/>
          </a:p>
        </p:txBody>
      </p:sp>
      <p:sp>
        <p:nvSpPr>
          <p:cNvPr id="19" name="Shape 17"/>
          <p:cNvSpPr/>
          <p:nvPr/>
        </p:nvSpPr>
        <p:spPr>
          <a:xfrm>
            <a:off x="6153912" y="3218688"/>
            <a:ext cx="5285232" cy="1234440"/>
          </a:xfrm>
          <a:prstGeom prst="roundRect">
            <a:avLst>
              <a:gd name="adj" fmla="val 4444"/>
            </a:avLst>
          </a:prstGeom>
          <a:solidFill>
            <a:srgbClr val="FFFFFF"/>
          </a:solidFill>
          <a:ln w="12700">
            <a:solidFill>
              <a:srgbClr val="DDE3ED"/>
            </a:solidFill>
            <a:prstDash val="solid"/>
          </a:ln>
        </p:spPr>
      </p:sp>
      <p:sp>
        <p:nvSpPr>
          <p:cNvPr id="20" name="Shape 18"/>
          <p:cNvSpPr/>
          <p:nvPr/>
        </p:nvSpPr>
        <p:spPr>
          <a:xfrm>
            <a:off x="6428232" y="3419856"/>
            <a:ext cx="457200" cy="457200"/>
          </a:xfrm>
          <a:prstGeom prst="ellipse">
            <a:avLst/>
          </a:prstGeom>
          <a:solidFill>
            <a:srgbClr val="0B1B33"/>
          </a:solidFill>
          <a:ln w="12700">
            <a:solidFill>
              <a:srgbClr val="0B1B33"/>
            </a:solidFill>
            <a:prstDash val="solid"/>
          </a:ln>
        </p:spPr>
      </p:sp>
      <p:sp>
        <p:nvSpPr>
          <p:cNvPr id="21" name="Text 19"/>
          <p:cNvSpPr txBox="1"/>
          <p:nvPr/>
        </p:nvSpPr>
        <p:spPr>
          <a:xfrm>
            <a:off x="6428232" y="341985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txBox="1"/>
          <p:nvPr/>
        </p:nvSpPr>
        <p:spPr>
          <a:xfrm>
            <a:off x="7068312" y="3401568"/>
            <a:ext cx="4142232" cy="32004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Incorrect Data</a:t>
            </a:r>
            <a:endParaRPr lang="en-US" sz="1450" dirty="0"/>
          </a:p>
        </p:txBody>
      </p:sp>
      <p:sp>
        <p:nvSpPr>
          <p:cNvPr id="23" name="Text 21"/>
          <p:cNvSpPr txBox="1"/>
          <p:nvPr/>
        </p:nvSpPr>
        <p:spPr>
          <a:xfrm>
            <a:off x="7068312" y="3785616"/>
            <a:ext cx="4142232" cy="594360"/>
          </a:xfrm>
          <a:prstGeom prst="rect">
            <a:avLst/>
          </a:prstGeom>
          <a:noFill/>
          <a:ln/>
        </p:spPr>
        <p:txBody>
          <a:bodyPr wrap="square" lIns="0" tIns="0" rIns="0" bIns="0" rtlCol="0" anchor="t"/>
          <a:lstStyle/>
          <a:p>
            <a:pPr marL="0" indent="0">
              <a:lnSpc>
                <a:spcPts val="2000"/>
              </a:lnSpc>
              <a:buNone/>
            </a:pPr>
            <a:r>
              <a:rPr lang="en-US" sz="1200" dirty="0">
                <a:solidFill>
                  <a:srgbClr val="6B7688"/>
                </a:solidFill>
                <a:latin typeface="Calibri" pitchFamily="34" charset="0"/>
                <a:ea typeface="Calibri" pitchFamily="34" charset="-122"/>
                <a:cs typeface="Calibri" pitchFamily="34" charset="-120"/>
              </a:rPr>
              <a:t>Verified no negative values, pH within 2.72–4.01, free SO₂ never above total SO₂, and type only red or white.</a:t>
            </a:r>
            <a:endParaRPr lang="en-US" sz="1200" dirty="0"/>
          </a:p>
        </p:txBody>
      </p:sp>
      <p:sp>
        <p:nvSpPr>
          <p:cNvPr id="24" name="Shape 22"/>
          <p:cNvSpPr/>
          <p:nvPr/>
        </p:nvSpPr>
        <p:spPr>
          <a:xfrm>
            <a:off x="603504" y="4617720"/>
            <a:ext cx="5285232" cy="1234440"/>
          </a:xfrm>
          <a:prstGeom prst="roundRect">
            <a:avLst>
              <a:gd name="adj" fmla="val 4444"/>
            </a:avLst>
          </a:prstGeom>
          <a:solidFill>
            <a:srgbClr val="FFFFFF"/>
          </a:solidFill>
          <a:ln w="12700">
            <a:solidFill>
              <a:srgbClr val="DDE3ED"/>
            </a:solidFill>
            <a:prstDash val="solid"/>
          </a:ln>
        </p:spPr>
      </p:sp>
      <p:sp>
        <p:nvSpPr>
          <p:cNvPr id="25" name="Shape 23"/>
          <p:cNvSpPr/>
          <p:nvPr/>
        </p:nvSpPr>
        <p:spPr>
          <a:xfrm>
            <a:off x="877824" y="4818888"/>
            <a:ext cx="457200" cy="457200"/>
          </a:xfrm>
          <a:prstGeom prst="ellipse">
            <a:avLst/>
          </a:prstGeom>
          <a:solidFill>
            <a:srgbClr val="0B1B33"/>
          </a:solidFill>
          <a:ln w="12700">
            <a:solidFill>
              <a:srgbClr val="0B1B33"/>
            </a:solidFill>
            <a:prstDash val="solid"/>
          </a:ln>
        </p:spPr>
      </p:sp>
      <p:sp>
        <p:nvSpPr>
          <p:cNvPr id="26" name="Text 24"/>
          <p:cNvSpPr txBox="1"/>
          <p:nvPr/>
        </p:nvSpPr>
        <p:spPr>
          <a:xfrm>
            <a:off x="877824" y="481888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1517904" y="4800600"/>
            <a:ext cx="4142232" cy="32004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Categorical Variables</a:t>
            </a:r>
            <a:endParaRPr lang="en-US" sz="1450" dirty="0"/>
          </a:p>
        </p:txBody>
      </p:sp>
      <p:sp>
        <p:nvSpPr>
          <p:cNvPr id="28" name="Text 26"/>
          <p:cNvSpPr txBox="1"/>
          <p:nvPr/>
        </p:nvSpPr>
        <p:spPr>
          <a:xfrm>
            <a:off x="1517904" y="5184648"/>
            <a:ext cx="4142232" cy="594360"/>
          </a:xfrm>
          <a:prstGeom prst="rect">
            <a:avLst/>
          </a:prstGeom>
          <a:noFill/>
          <a:ln/>
        </p:spPr>
        <p:txBody>
          <a:bodyPr wrap="square" lIns="0" tIns="0" rIns="0" bIns="0" rtlCol="0" anchor="t"/>
          <a:lstStyle/>
          <a:p>
            <a:pPr marL="0" indent="0">
              <a:lnSpc>
                <a:spcPts val="2000"/>
              </a:lnSpc>
              <a:buNone/>
            </a:pPr>
            <a:r>
              <a:rPr lang="en-US" sz="1200" dirty="0">
                <a:solidFill>
                  <a:srgbClr val="6B7688"/>
                </a:solidFill>
                <a:latin typeface="Calibri" pitchFamily="34" charset="0"/>
                <a:ea typeface="Calibri" pitchFamily="34" charset="-122"/>
                <a:cs typeface="Calibri" pitchFamily="34" charset="-120"/>
              </a:rPr>
              <a:t>Only ‘type’ is categorical — label-encoded as the target (white = 1, red = 0).</a:t>
            </a:r>
            <a:endParaRPr lang="en-US" sz="1200" dirty="0"/>
          </a:p>
        </p:txBody>
      </p:sp>
      <p:sp>
        <p:nvSpPr>
          <p:cNvPr id="29" name="Shape 27"/>
          <p:cNvSpPr/>
          <p:nvPr/>
        </p:nvSpPr>
        <p:spPr>
          <a:xfrm>
            <a:off x="6153912" y="4617720"/>
            <a:ext cx="5285232" cy="1234440"/>
          </a:xfrm>
          <a:prstGeom prst="roundRect">
            <a:avLst>
              <a:gd name="adj" fmla="val 4444"/>
            </a:avLst>
          </a:prstGeom>
          <a:solidFill>
            <a:srgbClr val="FFFFFF"/>
          </a:solidFill>
          <a:ln w="12700">
            <a:solidFill>
              <a:srgbClr val="DDE3ED"/>
            </a:solidFill>
            <a:prstDash val="solid"/>
          </a:ln>
        </p:spPr>
      </p:sp>
      <p:sp>
        <p:nvSpPr>
          <p:cNvPr id="30" name="Shape 28"/>
          <p:cNvSpPr/>
          <p:nvPr/>
        </p:nvSpPr>
        <p:spPr>
          <a:xfrm>
            <a:off x="6428232" y="4818888"/>
            <a:ext cx="457200" cy="457200"/>
          </a:xfrm>
          <a:prstGeom prst="ellipse">
            <a:avLst/>
          </a:prstGeom>
          <a:solidFill>
            <a:srgbClr val="0B1B33"/>
          </a:solidFill>
          <a:ln w="12700">
            <a:solidFill>
              <a:srgbClr val="0B1B33"/>
            </a:solidFill>
            <a:prstDash val="solid"/>
          </a:ln>
        </p:spPr>
      </p:sp>
      <p:sp>
        <p:nvSpPr>
          <p:cNvPr id="31" name="Text 29"/>
          <p:cNvSpPr txBox="1"/>
          <p:nvPr/>
        </p:nvSpPr>
        <p:spPr>
          <a:xfrm>
            <a:off x="6428232" y="481888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2" name="Text 30"/>
          <p:cNvSpPr txBox="1"/>
          <p:nvPr/>
        </p:nvSpPr>
        <p:spPr>
          <a:xfrm>
            <a:off x="7068312" y="4800600"/>
            <a:ext cx="4142232" cy="320040"/>
          </a:xfrm>
          <a:prstGeom prst="rect">
            <a:avLst/>
          </a:prstGeom>
          <a:noFill/>
          <a:ln/>
        </p:spPr>
        <p:txBody>
          <a:bodyPr wrap="square" lIns="0" tIns="0" rIns="0" bIns="0" rtlCol="0" anchor="ctr"/>
          <a:lstStyle/>
          <a:p>
            <a:pPr marL="0" indent="0">
              <a:buNone/>
            </a:pPr>
            <a:r>
              <a:rPr lang="en-US" sz="1450" b="1" dirty="0">
                <a:solidFill>
                  <a:srgbClr val="0B1B33"/>
                </a:solidFill>
                <a:latin typeface="Calibri" pitchFamily="34" charset="0"/>
                <a:ea typeface="Calibri" pitchFamily="34" charset="-122"/>
                <a:cs typeface="Calibri" pitchFamily="34" charset="-120"/>
              </a:rPr>
              <a:t>Numerical Variables</a:t>
            </a:r>
            <a:endParaRPr lang="en-US" sz="1450" dirty="0"/>
          </a:p>
        </p:txBody>
      </p:sp>
      <p:sp>
        <p:nvSpPr>
          <p:cNvPr id="33" name="Text 31"/>
          <p:cNvSpPr txBox="1"/>
          <p:nvPr/>
        </p:nvSpPr>
        <p:spPr>
          <a:xfrm>
            <a:off x="7068312" y="5184648"/>
            <a:ext cx="4142232" cy="594360"/>
          </a:xfrm>
          <a:prstGeom prst="rect">
            <a:avLst/>
          </a:prstGeom>
          <a:noFill/>
          <a:ln/>
        </p:spPr>
        <p:txBody>
          <a:bodyPr wrap="square" lIns="0" tIns="0" rIns="0" bIns="0" rtlCol="0" anchor="t"/>
          <a:lstStyle/>
          <a:p>
            <a:pPr marL="0" indent="0">
              <a:lnSpc>
                <a:spcPts val="2000"/>
              </a:lnSpc>
              <a:buNone/>
            </a:pPr>
            <a:r>
              <a:rPr lang="en-US" sz="1200" dirty="0">
                <a:solidFill>
                  <a:srgbClr val="6B7688"/>
                </a:solidFill>
                <a:latin typeface="Calibri" pitchFamily="34" charset="0"/>
                <a:ea typeface="Calibri" pitchFamily="34" charset="-122"/>
                <a:cs typeface="Calibri" pitchFamily="34" charset="-120"/>
              </a:rPr>
              <a:t>All 11 features standardized with StandardScaler, fitted on training data only, so regularization treats them fairly.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050" b="1" kern="0" spc="200" dirty="0">
                <a:solidFill>
                  <a:srgbClr val="E63946"/>
                </a:solidFill>
                <a:latin typeface="Calibri" pitchFamily="34" charset="0"/>
                <a:ea typeface="Calibri" pitchFamily="34" charset="-122"/>
                <a:cs typeface="Calibri" pitchFamily="34" charset="-120"/>
              </a:rPr>
              <a:t>EXPLORATORY DATA ANALYSIS</a:t>
            </a:r>
            <a:endParaRPr lang="en-US" sz="1050" dirty="0"/>
          </a:p>
        </p:txBody>
      </p:sp>
      <p:sp>
        <p:nvSpPr>
          <p:cNvPr id="3" name="Text 1"/>
          <p:cNvSpPr txBox="1"/>
          <p:nvPr/>
        </p:nvSpPr>
        <p:spPr>
          <a:xfrm>
            <a:off x="640080" y="713232"/>
            <a:ext cx="1051560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Class Balance at a Glance</a:t>
            </a:r>
            <a:endParaRPr lang="en-US" sz="2800" dirty="0"/>
          </a:p>
        </p:txBody>
      </p:sp>
      <p:sp>
        <p:nvSpPr>
          <p:cNvPr id="4" name="Shape 2"/>
          <p:cNvSpPr/>
          <p:nvPr/>
        </p:nvSpPr>
        <p:spPr>
          <a:xfrm>
            <a:off x="640080" y="1463040"/>
            <a:ext cx="5120640" cy="3246120"/>
          </a:xfrm>
          <a:prstGeom prst="roundRect">
            <a:avLst>
              <a:gd name="adj" fmla="val 1690"/>
            </a:avLst>
          </a:prstGeom>
          <a:solidFill>
            <a:srgbClr val="FFFFFF"/>
          </a:solidFill>
          <a:ln w="12700">
            <a:solidFill>
              <a:srgbClr val="DDE3ED"/>
            </a:solidFill>
            <a:prstDash val="solid"/>
          </a:ln>
        </p:spPr>
      </p:sp>
      <p:sp>
        <p:nvSpPr>
          <p:cNvPr id="5" name="Text 3"/>
          <p:cNvSpPr txBox="1"/>
          <p:nvPr/>
        </p:nvSpPr>
        <p:spPr>
          <a:xfrm>
            <a:off x="914400" y="1600200"/>
            <a:ext cx="3657600" cy="274320"/>
          </a:xfrm>
          <a:prstGeom prst="rect">
            <a:avLst/>
          </a:prstGeom>
          <a:noFill/>
          <a:ln/>
        </p:spPr>
        <p:txBody>
          <a:bodyPr wrap="square" lIns="0" tIns="0" rIns="0" bIns="0" rtlCol="0" anchor="ctr"/>
          <a:lstStyle/>
          <a:p>
            <a:pPr marL="0" indent="0">
              <a:buNone/>
            </a:pPr>
            <a:r>
              <a:rPr lang="en-US" sz="1300" b="1" dirty="0">
                <a:solidFill>
                  <a:srgbClr val="1B2A41"/>
                </a:solidFill>
                <a:latin typeface="Calibri" pitchFamily="34" charset="0"/>
                <a:ea typeface="Calibri" pitchFamily="34" charset="-122"/>
                <a:cs typeface="Calibri" pitchFamily="34" charset="-120"/>
              </a:rPr>
              <a:t>Class Distribution</a:t>
            </a:r>
            <a:endParaRPr lang="en-US" sz="1300" dirty="0"/>
          </a:p>
        </p:txBody>
      </p:sp>
      <p:graphicFrame>
        <p:nvGraphicFramePr>
          <p:cNvPr id="6" name="Chart 0"/>
          <p:cNvGraphicFramePr/>
          <p:nvPr/>
        </p:nvGraphicFramePr>
        <p:xfrm>
          <a:off x="914400" y="1874520"/>
          <a:ext cx="457200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914400" y="4343400"/>
            <a:ext cx="4572000" cy="274320"/>
          </a:xfrm>
          <a:prstGeom prst="rect">
            <a:avLst/>
          </a:prstGeom>
          <a:noFill/>
          <a:ln/>
        </p:spPr>
        <p:txBody>
          <a:bodyPr wrap="square" lIns="0" tIns="0" rIns="0" bIns="0" rtlCol="0" anchor="ctr"/>
          <a:lstStyle/>
          <a:p>
            <a:pPr marL="0" indent="0">
              <a:buNone/>
            </a:pPr>
            <a:r>
              <a:rPr lang="en-US" sz="1050" dirty="0">
                <a:solidFill>
                  <a:srgbClr val="6B7688"/>
                </a:solidFill>
                <a:latin typeface="Calibri" pitchFamily="34" charset="0"/>
                <a:ea typeface="Calibri" pitchFamily="34" charset="-122"/>
                <a:cs typeface="Calibri" pitchFamily="34" charset="-120"/>
              </a:rPr>
              <a:t>White wine makes up about 74.5% of the 5,320 unique samples.</a:t>
            </a:r>
            <a:endParaRPr lang="en-US" sz="1050" dirty="0"/>
          </a:p>
        </p:txBody>
      </p:sp>
      <p:sp>
        <p:nvSpPr>
          <p:cNvPr id="8" name="Shape 5"/>
          <p:cNvSpPr/>
          <p:nvPr/>
        </p:nvSpPr>
        <p:spPr>
          <a:xfrm>
            <a:off x="6080760" y="1508760"/>
            <a:ext cx="365760" cy="365760"/>
          </a:xfrm>
          <a:prstGeom prst="ellipse">
            <a:avLst/>
          </a:prstGeom>
          <a:solidFill>
            <a:srgbClr val="0B1B33"/>
          </a:solidFill>
          <a:ln w="12700">
            <a:solidFill>
              <a:srgbClr val="0B1B33"/>
            </a:solidFill>
            <a:prstDash val="solid"/>
          </a:ln>
        </p:spPr>
      </p:sp>
      <p:sp>
        <p:nvSpPr>
          <p:cNvPr id="9" name="Text 6"/>
          <p:cNvSpPr txBox="1"/>
          <p:nvPr/>
        </p:nvSpPr>
        <p:spPr>
          <a:xfrm>
            <a:off x="6080760" y="15087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6629400" y="1463040"/>
            <a:ext cx="4937760" cy="274320"/>
          </a:xfrm>
          <a:prstGeom prst="rect">
            <a:avLst/>
          </a:prstGeom>
          <a:noFill/>
          <a:ln/>
        </p:spPr>
        <p:txBody>
          <a:bodyPr wrap="square" lIns="0" tIns="0" rIns="0" bIns="0" rtlCol="0" anchor="ctr"/>
          <a:lstStyle/>
          <a:p>
            <a:pPr marL="0" indent="0">
              <a:buNone/>
            </a:pPr>
            <a:r>
              <a:rPr lang="en-US" sz="1350" b="1" dirty="0">
                <a:solidFill>
                  <a:srgbClr val="1B2A41"/>
                </a:solidFill>
                <a:latin typeface="Calibri" pitchFamily="34" charset="0"/>
                <a:ea typeface="Calibri" pitchFamily="34" charset="-122"/>
                <a:cs typeface="Calibri" pitchFamily="34" charset="-120"/>
              </a:rPr>
              <a:t>Moderate Class Imbalance</a:t>
            </a:r>
            <a:endParaRPr lang="en-US" sz="1350" dirty="0"/>
          </a:p>
        </p:txBody>
      </p:sp>
      <p:sp>
        <p:nvSpPr>
          <p:cNvPr id="11" name="Text 8"/>
          <p:cNvSpPr txBox="1"/>
          <p:nvPr/>
        </p:nvSpPr>
        <p:spPr>
          <a:xfrm>
            <a:off x="6629400" y="1755648"/>
            <a:ext cx="4937760" cy="45720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About 3 in 4 samples are white, so accuracy alone can mislead — recall, F1 and ROC-AUC matter.</a:t>
            </a:r>
            <a:endParaRPr lang="en-US" sz="1150" dirty="0"/>
          </a:p>
        </p:txBody>
      </p:sp>
      <p:sp>
        <p:nvSpPr>
          <p:cNvPr id="12" name="Shape 9"/>
          <p:cNvSpPr/>
          <p:nvPr/>
        </p:nvSpPr>
        <p:spPr>
          <a:xfrm>
            <a:off x="6080760" y="2331720"/>
            <a:ext cx="365760" cy="365760"/>
          </a:xfrm>
          <a:prstGeom prst="ellipse">
            <a:avLst/>
          </a:prstGeom>
          <a:solidFill>
            <a:srgbClr val="0B1B33"/>
          </a:solidFill>
          <a:ln w="12700">
            <a:solidFill>
              <a:srgbClr val="0B1B33"/>
            </a:solidFill>
            <a:prstDash val="solid"/>
          </a:ln>
        </p:spPr>
      </p:sp>
      <p:sp>
        <p:nvSpPr>
          <p:cNvPr id="13" name="Text 10"/>
          <p:cNvSpPr txBox="1"/>
          <p:nvPr/>
        </p:nvSpPr>
        <p:spPr>
          <a:xfrm>
            <a:off x="6080760" y="23317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txBox="1"/>
          <p:nvPr/>
        </p:nvSpPr>
        <p:spPr>
          <a:xfrm>
            <a:off x="6629400" y="2286000"/>
            <a:ext cx="4937760" cy="274320"/>
          </a:xfrm>
          <a:prstGeom prst="rect">
            <a:avLst/>
          </a:prstGeom>
          <a:noFill/>
          <a:ln/>
        </p:spPr>
        <p:txBody>
          <a:bodyPr wrap="square" lIns="0" tIns="0" rIns="0" bIns="0" rtlCol="0" anchor="ctr"/>
          <a:lstStyle/>
          <a:p>
            <a:pPr marL="0" indent="0">
              <a:buNone/>
            </a:pPr>
            <a:r>
              <a:rPr lang="en-US" sz="1350" b="1" dirty="0">
                <a:solidFill>
                  <a:srgbClr val="1B2A41"/>
                </a:solidFill>
                <a:latin typeface="Calibri" pitchFamily="34" charset="0"/>
                <a:ea typeface="Calibri" pitchFamily="34" charset="-122"/>
                <a:cs typeface="Calibri" pitchFamily="34" charset="-120"/>
              </a:rPr>
              <a:t>Strongly Separating Features</a:t>
            </a:r>
            <a:endParaRPr lang="en-US" sz="1350" dirty="0"/>
          </a:p>
        </p:txBody>
      </p:sp>
      <p:sp>
        <p:nvSpPr>
          <p:cNvPr id="15" name="Text 12"/>
          <p:cNvSpPr txBox="1"/>
          <p:nvPr/>
        </p:nvSpPr>
        <p:spPr>
          <a:xfrm>
            <a:off x="6629400" y="2578608"/>
            <a:ext cx="4937760" cy="45720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Total SO₂ (r = 0.69) and volatile acidity (r = −0.65) correlate most with wine type.</a:t>
            </a:r>
            <a:endParaRPr lang="en-US" sz="1150" dirty="0"/>
          </a:p>
        </p:txBody>
      </p:sp>
      <p:sp>
        <p:nvSpPr>
          <p:cNvPr id="16" name="Shape 13"/>
          <p:cNvSpPr/>
          <p:nvPr/>
        </p:nvSpPr>
        <p:spPr>
          <a:xfrm>
            <a:off x="6080760" y="3154680"/>
            <a:ext cx="365760" cy="365760"/>
          </a:xfrm>
          <a:prstGeom prst="ellipse">
            <a:avLst/>
          </a:prstGeom>
          <a:solidFill>
            <a:srgbClr val="0B1B33"/>
          </a:solidFill>
          <a:ln w="12700">
            <a:solidFill>
              <a:srgbClr val="0B1B33"/>
            </a:solidFill>
            <a:prstDash val="solid"/>
          </a:ln>
        </p:spPr>
      </p:sp>
      <p:sp>
        <p:nvSpPr>
          <p:cNvPr id="17" name="Text 14"/>
          <p:cNvSpPr txBox="1"/>
          <p:nvPr/>
        </p:nvSpPr>
        <p:spPr>
          <a:xfrm>
            <a:off x="6080760" y="3154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txBox="1"/>
          <p:nvPr/>
        </p:nvSpPr>
        <p:spPr>
          <a:xfrm>
            <a:off x="6629400" y="3108960"/>
            <a:ext cx="4937760" cy="274320"/>
          </a:xfrm>
          <a:prstGeom prst="rect">
            <a:avLst/>
          </a:prstGeom>
          <a:noFill/>
          <a:ln/>
        </p:spPr>
        <p:txBody>
          <a:bodyPr wrap="square" lIns="0" tIns="0" rIns="0" bIns="0" rtlCol="0" anchor="ctr"/>
          <a:lstStyle/>
          <a:p>
            <a:pPr marL="0" indent="0">
              <a:buNone/>
            </a:pPr>
            <a:r>
              <a:rPr lang="en-US" sz="1350" b="1" dirty="0">
                <a:solidFill>
                  <a:srgbClr val="1B2A41"/>
                </a:solidFill>
                <a:latin typeface="Calibri" pitchFamily="34" charset="0"/>
                <a:ea typeface="Calibri" pitchFamily="34" charset="-122"/>
                <a:cs typeface="Calibri" pitchFamily="34" charset="-120"/>
              </a:rPr>
              <a:t>Very Different Scales</a:t>
            </a:r>
            <a:endParaRPr lang="en-US" sz="1350" dirty="0"/>
          </a:p>
        </p:txBody>
      </p:sp>
      <p:sp>
        <p:nvSpPr>
          <p:cNvPr id="19" name="Text 16"/>
          <p:cNvSpPr txBox="1"/>
          <p:nvPr/>
        </p:nvSpPr>
        <p:spPr>
          <a:xfrm>
            <a:off x="6629400" y="3401568"/>
            <a:ext cx="4937760" cy="45720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Features range from 0.01 (chlorides) to 440 (total SO₂), so standardization is needed.</a:t>
            </a:r>
            <a:endParaRPr lang="en-US" sz="1150" dirty="0"/>
          </a:p>
        </p:txBody>
      </p:sp>
      <p:sp>
        <p:nvSpPr>
          <p:cNvPr id="20" name="Shape 17"/>
          <p:cNvSpPr/>
          <p:nvPr/>
        </p:nvSpPr>
        <p:spPr>
          <a:xfrm>
            <a:off x="6080760" y="3977640"/>
            <a:ext cx="365760" cy="365760"/>
          </a:xfrm>
          <a:prstGeom prst="ellipse">
            <a:avLst/>
          </a:prstGeom>
          <a:solidFill>
            <a:srgbClr val="0B1B33"/>
          </a:solidFill>
          <a:ln w="12700">
            <a:solidFill>
              <a:srgbClr val="0B1B33"/>
            </a:solidFill>
            <a:prstDash val="solid"/>
          </a:ln>
        </p:spPr>
      </p:sp>
      <p:sp>
        <p:nvSpPr>
          <p:cNvPr id="21" name="Text 18"/>
          <p:cNvSpPr txBox="1"/>
          <p:nvPr/>
        </p:nvSpPr>
        <p:spPr>
          <a:xfrm>
            <a:off x="6080760" y="39776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6629400" y="3931920"/>
            <a:ext cx="4937760" cy="274320"/>
          </a:xfrm>
          <a:prstGeom prst="rect">
            <a:avLst/>
          </a:prstGeom>
          <a:noFill/>
          <a:ln/>
        </p:spPr>
        <p:txBody>
          <a:bodyPr wrap="square" lIns="0" tIns="0" rIns="0" bIns="0" rtlCol="0" anchor="ctr"/>
          <a:lstStyle/>
          <a:p>
            <a:pPr marL="0" indent="0">
              <a:buNone/>
            </a:pPr>
            <a:r>
              <a:rPr lang="en-US" sz="1350" b="1" dirty="0">
                <a:solidFill>
                  <a:srgbClr val="1B2A41"/>
                </a:solidFill>
                <a:latin typeface="Calibri" pitchFamily="34" charset="0"/>
                <a:ea typeface="Calibri" pitchFamily="34" charset="-122"/>
                <a:cs typeface="Calibri" pitchFamily="34" charset="-120"/>
              </a:rPr>
              <a:t>No Missing Data</a:t>
            </a:r>
            <a:endParaRPr lang="en-US" sz="1350" dirty="0"/>
          </a:p>
        </p:txBody>
      </p:sp>
      <p:sp>
        <p:nvSpPr>
          <p:cNvPr id="23" name="Text 20"/>
          <p:cNvSpPr txBox="1"/>
          <p:nvPr/>
        </p:nvSpPr>
        <p:spPr>
          <a:xfrm>
            <a:off x="6629400" y="4224528"/>
            <a:ext cx="4937760" cy="45720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The data is complete, so preprocessing focuses on duplicates and scaling, not imputation.</a:t>
            </a:r>
            <a:endParaRPr lang="en-US" sz="1150" dirty="0"/>
          </a:p>
        </p:txBody>
      </p:sp>
      <p:sp>
        <p:nvSpPr>
          <p:cNvPr id="24" name="Shape 21"/>
          <p:cNvSpPr/>
          <p:nvPr/>
        </p:nvSpPr>
        <p:spPr>
          <a:xfrm>
            <a:off x="640080" y="5029200"/>
            <a:ext cx="2578608" cy="1188720"/>
          </a:xfrm>
          <a:prstGeom prst="roundRect">
            <a:avLst>
              <a:gd name="adj" fmla="val 4615"/>
            </a:avLst>
          </a:prstGeom>
          <a:solidFill>
            <a:srgbClr val="0B1B33"/>
          </a:solidFill>
          <a:ln w="12700">
            <a:solidFill>
              <a:srgbClr val="0B1B33"/>
            </a:solidFill>
            <a:prstDash val="solid"/>
          </a:ln>
        </p:spPr>
      </p:sp>
      <p:sp>
        <p:nvSpPr>
          <p:cNvPr id="25" name="Text 22"/>
          <p:cNvSpPr txBox="1"/>
          <p:nvPr/>
        </p:nvSpPr>
        <p:spPr>
          <a:xfrm>
            <a:off x="868680" y="5212080"/>
            <a:ext cx="2212848" cy="502920"/>
          </a:xfrm>
          <a:prstGeom prst="rect">
            <a:avLst/>
          </a:prstGeom>
          <a:noFill/>
          <a:ln/>
        </p:spPr>
        <p:txBody>
          <a:bodyPr wrap="square" lIns="0" tIns="0" rIns="0" bIns="0" rtlCol="0" anchor="ctr"/>
          <a:lstStyle/>
          <a:p>
            <a:pPr marL="0" indent="0">
              <a:buNone/>
            </a:pPr>
            <a:r>
              <a:rPr lang="en-US" sz="2600" b="1" dirty="0">
                <a:solidFill>
                  <a:srgbClr val="E63946"/>
                </a:solidFill>
                <a:latin typeface="Cambria" pitchFamily="34" charset="0"/>
                <a:ea typeface="Cambria" pitchFamily="34" charset="-122"/>
                <a:cs typeface="Cambria" pitchFamily="34" charset="-120"/>
              </a:rPr>
              <a:t>5,320</a:t>
            </a:r>
            <a:endParaRPr lang="en-US" sz="2600" dirty="0"/>
          </a:p>
        </p:txBody>
      </p:sp>
      <p:sp>
        <p:nvSpPr>
          <p:cNvPr id="26" name="Text 23"/>
          <p:cNvSpPr txBox="1"/>
          <p:nvPr/>
        </p:nvSpPr>
        <p:spPr>
          <a:xfrm>
            <a:off x="868680" y="5760720"/>
            <a:ext cx="2212848" cy="274320"/>
          </a:xfrm>
          <a:prstGeom prst="rect">
            <a:avLst/>
          </a:prstGeom>
          <a:noFill/>
          <a:ln/>
        </p:spPr>
        <p:txBody>
          <a:bodyPr wrap="square" lIns="0" tIns="0" rIns="0" bIns="0" rtlCol="0" anchor="ctr"/>
          <a:lstStyle/>
          <a:p>
            <a:pPr marL="0" indent="0">
              <a:buNone/>
            </a:pPr>
            <a:r>
              <a:rPr lang="en-US" sz="1100" dirty="0">
                <a:solidFill>
                  <a:srgbClr val="AFC6E9"/>
                </a:solidFill>
                <a:latin typeface="Calibri" pitchFamily="34" charset="0"/>
                <a:ea typeface="Calibri" pitchFamily="34" charset="-122"/>
                <a:cs typeface="Calibri" pitchFamily="34" charset="-120"/>
              </a:rPr>
              <a:t>Unique Wines</a:t>
            </a:r>
            <a:endParaRPr lang="en-US" sz="1100" dirty="0"/>
          </a:p>
        </p:txBody>
      </p:sp>
      <p:sp>
        <p:nvSpPr>
          <p:cNvPr id="27" name="Shape 24"/>
          <p:cNvSpPr/>
          <p:nvPr/>
        </p:nvSpPr>
        <p:spPr>
          <a:xfrm>
            <a:off x="3417113" y="5029200"/>
            <a:ext cx="2578608" cy="1188720"/>
          </a:xfrm>
          <a:prstGeom prst="roundRect">
            <a:avLst>
              <a:gd name="adj" fmla="val 4615"/>
            </a:avLst>
          </a:prstGeom>
          <a:solidFill>
            <a:srgbClr val="0B1B33"/>
          </a:solidFill>
          <a:ln w="12700">
            <a:solidFill>
              <a:srgbClr val="0B1B33"/>
            </a:solidFill>
            <a:prstDash val="solid"/>
          </a:ln>
        </p:spPr>
      </p:sp>
      <p:sp>
        <p:nvSpPr>
          <p:cNvPr id="28" name="Text 25"/>
          <p:cNvSpPr txBox="1"/>
          <p:nvPr/>
        </p:nvSpPr>
        <p:spPr>
          <a:xfrm>
            <a:off x="3645713" y="5212080"/>
            <a:ext cx="2212848" cy="502920"/>
          </a:xfrm>
          <a:prstGeom prst="rect">
            <a:avLst/>
          </a:prstGeom>
          <a:noFill/>
          <a:ln/>
        </p:spPr>
        <p:txBody>
          <a:bodyPr wrap="square" lIns="0" tIns="0" rIns="0" bIns="0" rtlCol="0" anchor="ctr"/>
          <a:lstStyle/>
          <a:p>
            <a:pPr marL="0" indent="0">
              <a:buNone/>
            </a:pPr>
            <a:r>
              <a:rPr lang="en-US" sz="2600" b="1" dirty="0">
                <a:solidFill>
                  <a:srgbClr val="E63946"/>
                </a:solidFill>
                <a:latin typeface="Cambria" pitchFamily="34" charset="0"/>
                <a:ea typeface="Cambria" pitchFamily="34" charset="-122"/>
                <a:cs typeface="Cambria" pitchFamily="34" charset="-120"/>
              </a:rPr>
              <a:t>1,359</a:t>
            </a:r>
            <a:endParaRPr lang="en-US" sz="2600" dirty="0"/>
          </a:p>
        </p:txBody>
      </p:sp>
      <p:sp>
        <p:nvSpPr>
          <p:cNvPr id="29" name="Text 26"/>
          <p:cNvSpPr txBox="1"/>
          <p:nvPr/>
        </p:nvSpPr>
        <p:spPr>
          <a:xfrm>
            <a:off x="3645713" y="5760720"/>
            <a:ext cx="2212848" cy="274320"/>
          </a:xfrm>
          <a:prstGeom prst="rect">
            <a:avLst/>
          </a:prstGeom>
          <a:noFill/>
          <a:ln/>
        </p:spPr>
        <p:txBody>
          <a:bodyPr wrap="square" lIns="0" tIns="0" rIns="0" bIns="0" rtlCol="0" anchor="ctr"/>
          <a:lstStyle/>
          <a:p>
            <a:pPr marL="0" indent="0">
              <a:buNone/>
            </a:pPr>
            <a:r>
              <a:rPr lang="en-US" sz="1100" dirty="0">
                <a:solidFill>
                  <a:srgbClr val="AFC6E9"/>
                </a:solidFill>
                <a:latin typeface="Calibri" pitchFamily="34" charset="0"/>
                <a:ea typeface="Calibri" pitchFamily="34" charset="-122"/>
                <a:cs typeface="Calibri" pitchFamily="34" charset="-120"/>
              </a:rPr>
              <a:t>Red Wines</a:t>
            </a:r>
            <a:endParaRPr lang="en-US" sz="1100" dirty="0"/>
          </a:p>
        </p:txBody>
      </p:sp>
      <p:sp>
        <p:nvSpPr>
          <p:cNvPr id="30" name="Shape 27"/>
          <p:cNvSpPr/>
          <p:nvPr/>
        </p:nvSpPr>
        <p:spPr>
          <a:xfrm>
            <a:off x="6194146" y="5029200"/>
            <a:ext cx="2578608" cy="1188720"/>
          </a:xfrm>
          <a:prstGeom prst="roundRect">
            <a:avLst>
              <a:gd name="adj" fmla="val 4615"/>
            </a:avLst>
          </a:prstGeom>
          <a:solidFill>
            <a:srgbClr val="0B1B33"/>
          </a:solidFill>
          <a:ln w="12700">
            <a:solidFill>
              <a:srgbClr val="0B1B33"/>
            </a:solidFill>
            <a:prstDash val="solid"/>
          </a:ln>
        </p:spPr>
      </p:sp>
      <p:sp>
        <p:nvSpPr>
          <p:cNvPr id="31" name="Text 28"/>
          <p:cNvSpPr txBox="1"/>
          <p:nvPr/>
        </p:nvSpPr>
        <p:spPr>
          <a:xfrm>
            <a:off x="6422746" y="5212080"/>
            <a:ext cx="2212848" cy="502920"/>
          </a:xfrm>
          <a:prstGeom prst="rect">
            <a:avLst/>
          </a:prstGeom>
          <a:noFill/>
          <a:ln/>
        </p:spPr>
        <p:txBody>
          <a:bodyPr wrap="square" lIns="0" tIns="0" rIns="0" bIns="0" rtlCol="0" anchor="ctr"/>
          <a:lstStyle/>
          <a:p>
            <a:pPr marL="0" indent="0">
              <a:buNone/>
            </a:pPr>
            <a:r>
              <a:rPr lang="en-US" sz="2600" b="1" dirty="0">
                <a:solidFill>
                  <a:srgbClr val="E63946"/>
                </a:solidFill>
                <a:latin typeface="Cambria" pitchFamily="34" charset="0"/>
                <a:ea typeface="Cambria" pitchFamily="34" charset="-122"/>
                <a:cs typeface="Cambria" pitchFamily="34" charset="-120"/>
              </a:rPr>
              <a:t>3,961</a:t>
            </a:r>
            <a:endParaRPr lang="en-US" sz="2600" dirty="0"/>
          </a:p>
        </p:txBody>
      </p:sp>
      <p:sp>
        <p:nvSpPr>
          <p:cNvPr id="32" name="Text 29"/>
          <p:cNvSpPr txBox="1"/>
          <p:nvPr/>
        </p:nvSpPr>
        <p:spPr>
          <a:xfrm>
            <a:off x="6422746" y="5760720"/>
            <a:ext cx="2212848" cy="274320"/>
          </a:xfrm>
          <a:prstGeom prst="rect">
            <a:avLst/>
          </a:prstGeom>
          <a:noFill/>
          <a:ln/>
        </p:spPr>
        <p:txBody>
          <a:bodyPr wrap="square" lIns="0" tIns="0" rIns="0" bIns="0" rtlCol="0" anchor="ctr"/>
          <a:lstStyle/>
          <a:p>
            <a:pPr marL="0" indent="0">
              <a:buNone/>
            </a:pPr>
            <a:r>
              <a:rPr lang="en-US" sz="1100" dirty="0">
                <a:solidFill>
                  <a:srgbClr val="AFC6E9"/>
                </a:solidFill>
                <a:latin typeface="Calibri" pitchFamily="34" charset="0"/>
                <a:ea typeface="Calibri" pitchFamily="34" charset="-122"/>
                <a:cs typeface="Calibri" pitchFamily="34" charset="-120"/>
              </a:rPr>
              <a:t>White Wines</a:t>
            </a:r>
            <a:endParaRPr lang="en-US" sz="1100" dirty="0"/>
          </a:p>
        </p:txBody>
      </p:sp>
      <p:sp>
        <p:nvSpPr>
          <p:cNvPr id="33" name="Shape 30"/>
          <p:cNvSpPr/>
          <p:nvPr/>
        </p:nvSpPr>
        <p:spPr>
          <a:xfrm>
            <a:off x="8971178" y="5029200"/>
            <a:ext cx="2578608" cy="1188720"/>
          </a:xfrm>
          <a:prstGeom prst="roundRect">
            <a:avLst>
              <a:gd name="adj" fmla="val 4615"/>
            </a:avLst>
          </a:prstGeom>
          <a:solidFill>
            <a:srgbClr val="0B1B33"/>
          </a:solidFill>
          <a:ln w="12700">
            <a:solidFill>
              <a:srgbClr val="0B1B33"/>
            </a:solidFill>
            <a:prstDash val="solid"/>
          </a:ln>
        </p:spPr>
      </p:sp>
      <p:sp>
        <p:nvSpPr>
          <p:cNvPr id="34" name="Text 31"/>
          <p:cNvSpPr txBox="1"/>
          <p:nvPr/>
        </p:nvSpPr>
        <p:spPr>
          <a:xfrm>
            <a:off x="9199778" y="5212080"/>
            <a:ext cx="2212848" cy="502920"/>
          </a:xfrm>
          <a:prstGeom prst="rect">
            <a:avLst/>
          </a:prstGeom>
          <a:noFill/>
          <a:ln/>
        </p:spPr>
        <p:txBody>
          <a:bodyPr wrap="square" lIns="0" tIns="0" rIns="0" bIns="0" rtlCol="0" anchor="ctr"/>
          <a:lstStyle/>
          <a:p>
            <a:pPr marL="0" indent="0">
              <a:buNone/>
            </a:pPr>
            <a:r>
              <a:rPr lang="en-US" sz="2600" b="1" dirty="0">
                <a:solidFill>
                  <a:srgbClr val="E63946"/>
                </a:solidFill>
                <a:latin typeface="Cambria" pitchFamily="34" charset="0"/>
                <a:ea typeface="Cambria" pitchFamily="34" charset="-122"/>
                <a:cs typeface="Cambria" pitchFamily="34" charset="-120"/>
              </a:rPr>
              <a:t>74.5%</a:t>
            </a:r>
            <a:endParaRPr lang="en-US" sz="2600" dirty="0"/>
          </a:p>
        </p:txBody>
      </p:sp>
      <p:sp>
        <p:nvSpPr>
          <p:cNvPr id="35" name="Text 32"/>
          <p:cNvSpPr txBox="1"/>
          <p:nvPr/>
        </p:nvSpPr>
        <p:spPr>
          <a:xfrm>
            <a:off x="9199778" y="5760720"/>
            <a:ext cx="2212848" cy="274320"/>
          </a:xfrm>
          <a:prstGeom prst="rect">
            <a:avLst/>
          </a:prstGeom>
          <a:noFill/>
          <a:ln/>
        </p:spPr>
        <p:txBody>
          <a:bodyPr wrap="square" lIns="0" tIns="0" rIns="0" bIns="0" rtlCol="0" anchor="ctr"/>
          <a:lstStyle/>
          <a:p>
            <a:pPr marL="0" indent="0">
              <a:buNone/>
            </a:pPr>
            <a:r>
              <a:rPr lang="en-US" sz="1100" dirty="0">
                <a:solidFill>
                  <a:srgbClr val="AFC6E9"/>
                </a:solidFill>
                <a:latin typeface="Calibri" pitchFamily="34" charset="0"/>
                <a:ea typeface="Calibri" pitchFamily="34" charset="-122"/>
                <a:cs typeface="Calibri" pitchFamily="34" charset="-120"/>
              </a:rPr>
              <a:t>White Share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050" b="1" kern="0" spc="200" dirty="0">
                <a:solidFill>
                  <a:srgbClr val="E63946"/>
                </a:solidFill>
                <a:latin typeface="Calibri" pitchFamily="34" charset="0"/>
                <a:ea typeface="Calibri" pitchFamily="34" charset="-122"/>
                <a:cs typeface="Calibri" pitchFamily="34" charset="-120"/>
              </a:rPr>
              <a:t>EXPLORATORY DATA ANALYSIS</a:t>
            </a:r>
            <a:endParaRPr lang="en-US" sz="1050" dirty="0"/>
          </a:p>
        </p:txBody>
      </p:sp>
      <p:sp>
        <p:nvSpPr>
          <p:cNvPr id="3" name="Text 1"/>
          <p:cNvSpPr txBox="1"/>
          <p:nvPr/>
        </p:nvSpPr>
        <p:spPr>
          <a:xfrm>
            <a:off x="640080" y="713232"/>
            <a:ext cx="1051560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Visualizing the Wine Data</a:t>
            </a:r>
            <a:endParaRPr lang="en-US" sz="2800" dirty="0"/>
          </a:p>
        </p:txBody>
      </p:sp>
      <p:sp>
        <p:nvSpPr>
          <p:cNvPr id="4" name="Shape 2"/>
          <p:cNvSpPr/>
          <p:nvPr/>
        </p:nvSpPr>
        <p:spPr>
          <a:xfrm>
            <a:off x="557784" y="1463040"/>
            <a:ext cx="3520440" cy="4754880"/>
          </a:xfrm>
          <a:prstGeom prst="roundRect">
            <a:avLst>
              <a:gd name="adj" fmla="val 1558"/>
            </a:avLst>
          </a:prstGeom>
          <a:solidFill>
            <a:srgbClr val="FFFFFF"/>
          </a:solidFill>
          <a:ln w="12700">
            <a:solidFill>
              <a:srgbClr val="DDE3ED"/>
            </a:solidFill>
            <a:prstDash val="solid"/>
          </a:ln>
        </p:spPr>
      </p:sp>
      <p:sp>
        <p:nvSpPr>
          <p:cNvPr id="5" name="Text 3"/>
          <p:cNvSpPr txBox="1"/>
          <p:nvPr/>
        </p:nvSpPr>
        <p:spPr>
          <a:xfrm>
            <a:off x="786384" y="1627632"/>
            <a:ext cx="3063240" cy="274320"/>
          </a:xfrm>
          <a:prstGeom prst="rect">
            <a:avLst/>
          </a:prstGeom>
          <a:noFill/>
          <a:ln/>
        </p:spPr>
        <p:txBody>
          <a:bodyPr wrap="square" lIns="0" tIns="0" rIns="0" bIns="0" rtlCol="0" anchor="ctr"/>
          <a:lstStyle/>
          <a:p>
            <a:pPr marL="0" indent="0">
              <a:buNone/>
            </a:pPr>
            <a:r>
              <a:rPr lang="en-US" sz="1250" b="1" dirty="0">
                <a:solidFill>
                  <a:srgbClr val="1B2A41"/>
                </a:solidFill>
                <a:latin typeface="Calibri" pitchFamily="34" charset="0"/>
                <a:ea typeface="Calibri" pitchFamily="34" charset="-122"/>
                <a:cs typeface="Calibri" pitchFamily="34" charset="-120"/>
              </a:rPr>
              <a:t>Histogram — Total SO₂ Distribution</a:t>
            </a:r>
            <a:endParaRPr lang="en-US" sz="1250" dirty="0"/>
          </a:p>
        </p:txBody>
      </p:sp>
      <p:pic>
        <p:nvPicPr>
          <p:cNvPr id="6" name="Image 0" descr="hist.png"/>
          <p:cNvPicPr>
            <a:picLocks noChangeAspect="1"/>
          </p:cNvPicPr>
          <p:nvPr/>
        </p:nvPicPr>
        <p:blipFill>
          <a:blip r:embed="rId3"/>
          <a:stretch>
            <a:fillRect/>
          </a:stretch>
        </p:blipFill>
        <p:spPr>
          <a:xfrm>
            <a:off x="694944" y="2180013"/>
            <a:ext cx="3246120" cy="2360815"/>
          </a:xfrm>
          <a:prstGeom prst="rect">
            <a:avLst/>
          </a:prstGeom>
        </p:spPr>
      </p:pic>
      <p:sp>
        <p:nvSpPr>
          <p:cNvPr id="7" name="Text 4"/>
          <p:cNvSpPr txBox="1"/>
          <p:nvPr/>
        </p:nvSpPr>
        <p:spPr>
          <a:xfrm>
            <a:off x="786384" y="4937760"/>
            <a:ext cx="3063240" cy="109728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White wines carry far more sulfur dioxide (median 133 vs 38 mg/dm³), so the two types barely overlap.</a:t>
            </a:r>
            <a:endParaRPr lang="en-US" sz="1150" dirty="0"/>
          </a:p>
        </p:txBody>
      </p:sp>
      <p:sp>
        <p:nvSpPr>
          <p:cNvPr id="8" name="Shape 5"/>
          <p:cNvSpPr/>
          <p:nvPr/>
        </p:nvSpPr>
        <p:spPr>
          <a:xfrm>
            <a:off x="4334256" y="1463040"/>
            <a:ext cx="3520440" cy="4754880"/>
          </a:xfrm>
          <a:prstGeom prst="roundRect">
            <a:avLst>
              <a:gd name="adj" fmla="val 1558"/>
            </a:avLst>
          </a:prstGeom>
          <a:solidFill>
            <a:srgbClr val="FFFFFF"/>
          </a:solidFill>
          <a:ln w="12700">
            <a:solidFill>
              <a:srgbClr val="DDE3ED"/>
            </a:solidFill>
            <a:prstDash val="solid"/>
          </a:ln>
        </p:spPr>
      </p:sp>
      <p:sp>
        <p:nvSpPr>
          <p:cNvPr id="9" name="Text 6"/>
          <p:cNvSpPr txBox="1"/>
          <p:nvPr/>
        </p:nvSpPr>
        <p:spPr>
          <a:xfrm>
            <a:off x="4562856" y="1627632"/>
            <a:ext cx="3063240" cy="274320"/>
          </a:xfrm>
          <a:prstGeom prst="rect">
            <a:avLst/>
          </a:prstGeom>
          <a:noFill/>
          <a:ln/>
        </p:spPr>
        <p:txBody>
          <a:bodyPr wrap="square" lIns="0" tIns="0" rIns="0" bIns="0" rtlCol="0" anchor="ctr"/>
          <a:lstStyle/>
          <a:p>
            <a:pPr marL="0" indent="0">
              <a:buNone/>
            </a:pPr>
            <a:r>
              <a:rPr lang="en-US" sz="1250" b="1" dirty="0">
                <a:solidFill>
                  <a:srgbClr val="1B2A41"/>
                </a:solidFill>
                <a:latin typeface="Calibri" pitchFamily="34" charset="0"/>
                <a:ea typeface="Calibri" pitchFamily="34" charset="-122"/>
                <a:cs typeface="Calibri" pitchFamily="34" charset="-120"/>
              </a:rPr>
              <a:t>Bar Chart — Avg. Value by Wine Type</a:t>
            </a:r>
            <a:endParaRPr lang="en-US" sz="1250" dirty="0"/>
          </a:p>
        </p:txBody>
      </p:sp>
      <p:graphicFrame>
        <p:nvGraphicFramePr>
          <p:cNvPr id="10" name="Chart 0"/>
          <p:cNvGraphicFramePr/>
          <p:nvPr/>
        </p:nvGraphicFramePr>
        <p:xfrm>
          <a:off x="4471416" y="2011680"/>
          <a:ext cx="324612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4562856" y="4937760"/>
            <a:ext cx="3063240" cy="109728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White wines are sweeter (5.9 vs 2.5 g/dm³) and less acidic (6.8 vs 8.3); alcohol is almost identical.</a:t>
            </a:r>
            <a:endParaRPr lang="en-US" sz="1150" dirty="0"/>
          </a:p>
        </p:txBody>
      </p:sp>
      <p:sp>
        <p:nvSpPr>
          <p:cNvPr id="12" name="Shape 8"/>
          <p:cNvSpPr/>
          <p:nvPr/>
        </p:nvSpPr>
        <p:spPr>
          <a:xfrm>
            <a:off x="8110728" y="1463040"/>
            <a:ext cx="3520440" cy="4754880"/>
          </a:xfrm>
          <a:prstGeom prst="roundRect">
            <a:avLst>
              <a:gd name="adj" fmla="val 1558"/>
            </a:avLst>
          </a:prstGeom>
          <a:solidFill>
            <a:srgbClr val="FFFFFF"/>
          </a:solidFill>
          <a:ln w="12700">
            <a:solidFill>
              <a:srgbClr val="DDE3ED"/>
            </a:solidFill>
            <a:prstDash val="solid"/>
          </a:ln>
        </p:spPr>
      </p:sp>
      <p:sp>
        <p:nvSpPr>
          <p:cNvPr id="13" name="Text 9"/>
          <p:cNvSpPr txBox="1"/>
          <p:nvPr/>
        </p:nvSpPr>
        <p:spPr>
          <a:xfrm>
            <a:off x="8339328" y="1627632"/>
            <a:ext cx="3063240" cy="274320"/>
          </a:xfrm>
          <a:prstGeom prst="rect">
            <a:avLst/>
          </a:prstGeom>
          <a:noFill/>
          <a:ln/>
        </p:spPr>
        <p:txBody>
          <a:bodyPr wrap="square" lIns="0" tIns="0" rIns="0" bIns="0" rtlCol="0" anchor="ctr"/>
          <a:lstStyle/>
          <a:p>
            <a:pPr marL="0" indent="0">
              <a:buNone/>
            </a:pPr>
            <a:r>
              <a:rPr lang="en-US" sz="1250" b="1" dirty="0">
                <a:solidFill>
                  <a:srgbClr val="1B2A41"/>
                </a:solidFill>
                <a:latin typeface="Calibri" pitchFamily="34" charset="0"/>
                <a:ea typeface="Calibri" pitchFamily="34" charset="-122"/>
                <a:cs typeface="Calibri" pitchFamily="34" charset="-120"/>
              </a:rPr>
              <a:t>Count Plot — Wine Type Counts</a:t>
            </a:r>
            <a:endParaRPr lang="en-US" sz="1250" dirty="0"/>
          </a:p>
        </p:txBody>
      </p:sp>
      <p:graphicFrame>
        <p:nvGraphicFramePr>
          <p:cNvPr id="14" name="Chart 1"/>
          <p:cNvGraphicFramePr/>
          <p:nvPr/>
        </p:nvGraphicFramePr>
        <p:xfrm>
          <a:off x="8247888" y="2011680"/>
          <a:ext cx="3246120" cy="269748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 10"/>
          <p:cNvSpPr txBox="1"/>
          <p:nvPr/>
        </p:nvSpPr>
        <p:spPr>
          <a:xfrm>
            <a:off x="8339328" y="4937760"/>
            <a:ext cx="3063240" cy="109728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Red wines are about 26% of the 5,320 unique samples, so class-aware metrics are important.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050" b="1" kern="0" spc="200" dirty="0">
                <a:solidFill>
                  <a:srgbClr val="E63946"/>
                </a:solidFill>
                <a:latin typeface="Calibri" pitchFamily="34" charset="0"/>
                <a:ea typeface="Calibri" pitchFamily="34" charset="-122"/>
                <a:cs typeface="Calibri" pitchFamily="34" charset="-120"/>
              </a:rPr>
              <a:t>EXPLORATORY DATA ANALYSIS</a:t>
            </a:r>
            <a:endParaRPr lang="en-US" sz="1050" dirty="0"/>
          </a:p>
        </p:txBody>
      </p:sp>
      <p:sp>
        <p:nvSpPr>
          <p:cNvPr id="3" name="Text 1"/>
          <p:cNvSpPr txBox="1"/>
          <p:nvPr/>
        </p:nvSpPr>
        <p:spPr>
          <a:xfrm>
            <a:off x="640080" y="713232"/>
            <a:ext cx="10515600" cy="548640"/>
          </a:xfrm>
          <a:prstGeom prst="rect">
            <a:avLst/>
          </a:prstGeom>
          <a:noFill/>
          <a:ln/>
        </p:spPr>
        <p:txBody>
          <a:bodyPr wrap="square" lIns="0" tIns="0" rIns="0" bIns="0" rtlCol="0" anchor="ctr"/>
          <a:lstStyle/>
          <a:p>
            <a:pPr marL="0" indent="0">
              <a:buNone/>
            </a:pPr>
            <a:r>
              <a:rPr lang="en-US" sz="2800" b="1" dirty="0">
                <a:solidFill>
                  <a:srgbClr val="0B1B33"/>
                </a:solidFill>
                <a:latin typeface="Cambria" pitchFamily="34" charset="0"/>
                <a:ea typeface="Cambria" pitchFamily="34" charset="-122"/>
                <a:cs typeface="Cambria" pitchFamily="34" charset="-120"/>
              </a:rPr>
              <a:t>Spotting Patterns and Relationships</a:t>
            </a:r>
            <a:endParaRPr lang="en-US" sz="2800" dirty="0"/>
          </a:p>
        </p:txBody>
      </p:sp>
      <p:sp>
        <p:nvSpPr>
          <p:cNvPr id="4" name="Shape 2"/>
          <p:cNvSpPr/>
          <p:nvPr/>
        </p:nvSpPr>
        <p:spPr>
          <a:xfrm>
            <a:off x="557784" y="1463040"/>
            <a:ext cx="3520440" cy="4754880"/>
          </a:xfrm>
          <a:prstGeom prst="roundRect">
            <a:avLst>
              <a:gd name="adj" fmla="val 1558"/>
            </a:avLst>
          </a:prstGeom>
          <a:solidFill>
            <a:srgbClr val="FFFFFF"/>
          </a:solidFill>
          <a:ln w="12700">
            <a:solidFill>
              <a:srgbClr val="DDE3ED"/>
            </a:solidFill>
            <a:prstDash val="solid"/>
          </a:ln>
        </p:spPr>
      </p:sp>
      <p:sp>
        <p:nvSpPr>
          <p:cNvPr id="5" name="Text 3"/>
          <p:cNvSpPr txBox="1"/>
          <p:nvPr/>
        </p:nvSpPr>
        <p:spPr>
          <a:xfrm>
            <a:off x="786384" y="1627632"/>
            <a:ext cx="3063240" cy="274320"/>
          </a:xfrm>
          <a:prstGeom prst="rect">
            <a:avLst/>
          </a:prstGeom>
          <a:noFill/>
          <a:ln/>
        </p:spPr>
        <p:txBody>
          <a:bodyPr wrap="square" lIns="0" tIns="0" rIns="0" bIns="0" rtlCol="0" anchor="ctr"/>
          <a:lstStyle/>
          <a:p>
            <a:pPr marL="0" indent="0">
              <a:buNone/>
            </a:pPr>
            <a:r>
              <a:rPr lang="en-US" sz="1250" b="1" dirty="0">
                <a:solidFill>
                  <a:srgbClr val="1B2A41"/>
                </a:solidFill>
                <a:latin typeface="Calibri" pitchFamily="34" charset="0"/>
                <a:ea typeface="Calibri" pitchFamily="34" charset="-122"/>
                <a:cs typeface="Calibri" pitchFamily="34" charset="-120"/>
              </a:rPr>
              <a:t>Box Plot — Total SO₂ by Type</a:t>
            </a:r>
            <a:endParaRPr lang="en-US" sz="1250" dirty="0"/>
          </a:p>
        </p:txBody>
      </p:sp>
      <p:pic>
        <p:nvPicPr>
          <p:cNvPr id="6" name="Image 0" descr="box.png"/>
          <p:cNvPicPr>
            <a:picLocks noChangeAspect="1"/>
          </p:cNvPicPr>
          <p:nvPr/>
        </p:nvPicPr>
        <p:blipFill>
          <a:blip r:embed="rId3"/>
          <a:stretch>
            <a:fillRect/>
          </a:stretch>
        </p:blipFill>
        <p:spPr>
          <a:xfrm>
            <a:off x="694944" y="2180013"/>
            <a:ext cx="3246120" cy="2360815"/>
          </a:xfrm>
          <a:prstGeom prst="rect">
            <a:avLst/>
          </a:prstGeom>
        </p:spPr>
      </p:pic>
      <p:sp>
        <p:nvSpPr>
          <p:cNvPr id="7" name="Text 4"/>
          <p:cNvSpPr txBox="1"/>
          <p:nvPr/>
        </p:nvSpPr>
        <p:spPr>
          <a:xfrm>
            <a:off x="786384" y="4937760"/>
            <a:ext cx="3063240" cy="109728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White wines have a much higher median total SO₂ (133 vs 38 mg/dm³) and a wider spread.</a:t>
            </a:r>
            <a:endParaRPr lang="en-US" sz="1150" dirty="0"/>
          </a:p>
        </p:txBody>
      </p:sp>
      <p:sp>
        <p:nvSpPr>
          <p:cNvPr id="8" name="Shape 5"/>
          <p:cNvSpPr/>
          <p:nvPr/>
        </p:nvSpPr>
        <p:spPr>
          <a:xfrm>
            <a:off x="4334256" y="1463040"/>
            <a:ext cx="3520440" cy="4754880"/>
          </a:xfrm>
          <a:prstGeom prst="roundRect">
            <a:avLst>
              <a:gd name="adj" fmla="val 1558"/>
            </a:avLst>
          </a:prstGeom>
          <a:solidFill>
            <a:srgbClr val="FFFFFF"/>
          </a:solidFill>
          <a:ln w="12700">
            <a:solidFill>
              <a:srgbClr val="DDE3ED"/>
            </a:solidFill>
            <a:prstDash val="solid"/>
          </a:ln>
        </p:spPr>
      </p:sp>
      <p:sp>
        <p:nvSpPr>
          <p:cNvPr id="9" name="Text 6"/>
          <p:cNvSpPr txBox="1"/>
          <p:nvPr/>
        </p:nvSpPr>
        <p:spPr>
          <a:xfrm>
            <a:off x="4562856" y="1627632"/>
            <a:ext cx="3063240" cy="274320"/>
          </a:xfrm>
          <a:prstGeom prst="rect">
            <a:avLst/>
          </a:prstGeom>
          <a:noFill/>
          <a:ln/>
        </p:spPr>
        <p:txBody>
          <a:bodyPr wrap="square" lIns="0" tIns="0" rIns="0" bIns="0" rtlCol="0" anchor="ctr"/>
          <a:lstStyle/>
          <a:p>
            <a:pPr marL="0" indent="0">
              <a:buNone/>
            </a:pPr>
            <a:r>
              <a:rPr lang="en-US" sz="1250" b="1" dirty="0">
                <a:solidFill>
                  <a:srgbClr val="1B2A41"/>
                </a:solidFill>
                <a:latin typeface="Calibri" pitchFamily="34" charset="0"/>
                <a:ea typeface="Calibri" pitchFamily="34" charset="-122"/>
                <a:cs typeface="Calibri" pitchFamily="34" charset="-120"/>
              </a:rPr>
              <a:t>Scatter Plot — SO₂ vs Volatile Acidity</a:t>
            </a:r>
            <a:endParaRPr lang="en-US" sz="1250" dirty="0"/>
          </a:p>
        </p:txBody>
      </p:sp>
      <p:pic>
        <p:nvPicPr>
          <p:cNvPr id="10" name="Image 1" descr="scatter.png"/>
          <p:cNvPicPr>
            <a:picLocks noChangeAspect="1"/>
          </p:cNvPicPr>
          <p:nvPr/>
        </p:nvPicPr>
        <p:blipFill>
          <a:blip r:embed="rId4"/>
          <a:stretch>
            <a:fillRect/>
          </a:stretch>
        </p:blipFill>
        <p:spPr>
          <a:xfrm>
            <a:off x="4471416" y="2180013"/>
            <a:ext cx="3246120" cy="2360815"/>
          </a:xfrm>
          <a:prstGeom prst="rect">
            <a:avLst/>
          </a:prstGeom>
        </p:spPr>
      </p:pic>
      <p:sp>
        <p:nvSpPr>
          <p:cNvPr id="11" name="Text 7"/>
          <p:cNvSpPr txBox="1"/>
          <p:nvPr/>
        </p:nvSpPr>
        <p:spPr>
          <a:xfrm>
            <a:off x="4562856" y="4937760"/>
            <a:ext cx="3063240" cy="109728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Red wines sit at high volatile acidity and low SO₂; whites cluster at low acidity and high SO₂.</a:t>
            </a:r>
            <a:endParaRPr lang="en-US" sz="1150" dirty="0"/>
          </a:p>
        </p:txBody>
      </p:sp>
      <p:sp>
        <p:nvSpPr>
          <p:cNvPr id="12" name="Shape 8"/>
          <p:cNvSpPr/>
          <p:nvPr/>
        </p:nvSpPr>
        <p:spPr>
          <a:xfrm>
            <a:off x="8110728" y="1463040"/>
            <a:ext cx="3520440" cy="4754880"/>
          </a:xfrm>
          <a:prstGeom prst="roundRect">
            <a:avLst>
              <a:gd name="adj" fmla="val 1558"/>
            </a:avLst>
          </a:prstGeom>
          <a:solidFill>
            <a:srgbClr val="FFFFFF"/>
          </a:solidFill>
          <a:ln w="12700">
            <a:solidFill>
              <a:srgbClr val="DDE3ED"/>
            </a:solidFill>
            <a:prstDash val="solid"/>
          </a:ln>
        </p:spPr>
      </p:sp>
      <p:sp>
        <p:nvSpPr>
          <p:cNvPr id="13" name="Text 9"/>
          <p:cNvSpPr txBox="1"/>
          <p:nvPr/>
        </p:nvSpPr>
        <p:spPr>
          <a:xfrm>
            <a:off x="8339328" y="1627632"/>
            <a:ext cx="3063240" cy="274320"/>
          </a:xfrm>
          <a:prstGeom prst="rect">
            <a:avLst/>
          </a:prstGeom>
          <a:noFill/>
          <a:ln/>
        </p:spPr>
        <p:txBody>
          <a:bodyPr wrap="square" lIns="0" tIns="0" rIns="0" bIns="0" rtlCol="0" anchor="ctr"/>
          <a:lstStyle/>
          <a:p>
            <a:pPr marL="0" indent="0">
              <a:buNone/>
            </a:pPr>
            <a:r>
              <a:rPr lang="en-US" sz="1250" b="1" dirty="0">
                <a:solidFill>
                  <a:srgbClr val="1B2A41"/>
                </a:solidFill>
                <a:latin typeface="Calibri" pitchFamily="34" charset="0"/>
                <a:ea typeface="Calibri" pitchFamily="34" charset="-122"/>
                <a:cs typeface="Calibri" pitchFamily="34" charset="-120"/>
              </a:rPr>
              <a:t>Correlation Heatmap</a:t>
            </a:r>
            <a:endParaRPr lang="en-US" sz="1250" dirty="0"/>
          </a:p>
        </p:txBody>
      </p:sp>
      <p:pic>
        <p:nvPicPr>
          <p:cNvPr id="14" name="Image 2" descr="heat.png"/>
          <p:cNvPicPr>
            <a:picLocks noChangeAspect="1"/>
          </p:cNvPicPr>
          <p:nvPr/>
        </p:nvPicPr>
        <p:blipFill>
          <a:blip r:embed="rId5"/>
          <a:stretch>
            <a:fillRect/>
          </a:stretch>
        </p:blipFill>
        <p:spPr>
          <a:xfrm>
            <a:off x="8280126" y="2011680"/>
            <a:ext cx="3181643" cy="2697480"/>
          </a:xfrm>
          <a:prstGeom prst="rect">
            <a:avLst/>
          </a:prstGeom>
        </p:spPr>
      </p:pic>
      <p:sp>
        <p:nvSpPr>
          <p:cNvPr id="15" name="Text 10"/>
          <p:cNvSpPr txBox="1"/>
          <p:nvPr/>
        </p:nvSpPr>
        <p:spPr>
          <a:xfrm>
            <a:off x="8339328" y="4937760"/>
            <a:ext cx="3063240" cy="1097280"/>
          </a:xfrm>
          <a:prstGeom prst="rect">
            <a:avLst/>
          </a:prstGeom>
          <a:noFill/>
          <a:ln/>
        </p:spPr>
        <p:txBody>
          <a:bodyPr wrap="square" lIns="0" tIns="0" rIns="0" bIns="0" rtlCol="0" anchor="t"/>
          <a:lstStyle/>
          <a:p>
            <a:pPr marL="0" indent="0">
              <a:buNone/>
            </a:pPr>
            <a:r>
              <a:rPr lang="en-US" sz="1150" dirty="0">
                <a:solidFill>
                  <a:srgbClr val="6B7688"/>
                </a:solidFill>
                <a:latin typeface="Calibri" pitchFamily="34" charset="0"/>
                <a:ea typeface="Calibri" pitchFamily="34" charset="-122"/>
                <a:cs typeface="Calibri" pitchFamily="34" charset="-120"/>
              </a:rPr>
              <a:t>Total SO₂ (+0.69) and volatile acidity (−0.65) relate most to wine type; chlorides, sulphates and density also matter.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1138</Words>
  <Application>Microsoft Office PowerPoint</Application>
  <PresentationFormat>Widescreen</PresentationFormat>
  <Paragraphs>147</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Type Classification System</dc:title>
  <dc:subject>PptxGenJS Presentation</dc:subject>
  <dc:creator>PptxGenJS</dc:creator>
  <cp:lastModifiedBy>Dropathi Vinyasri</cp:lastModifiedBy>
  <cp:revision>1</cp:revision>
  <dcterms:created xsi:type="dcterms:W3CDTF">2026-10-05T03:32:08Z</dcterms:created>
  <dcterms:modified xsi:type="dcterms:W3CDTF">2026-10-13T05:39:42Z</dcterms:modified>
</cp:coreProperties>
</file>